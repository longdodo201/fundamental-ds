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60" r:id="rId6"/>
    <p:sldId id="261" r:id="rId7"/>
    <p:sldId id="267" r:id="rId8"/>
    <p:sldId id="262" r:id="rId9"/>
    <p:sldId id="263" r:id="rId10"/>
    <p:sldId id="264" r:id="rId11"/>
    <p:sldId id="265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7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01168" y="45720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BEAFE"/>
                </a:solidFill>
                <a:latin typeface="Calibri"/>
              </a:rPr>
              <a:t>INTRODUCTION TO DATA SCIENCE  |  MID-TERM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1005840"/>
            <a:ext cx="4754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Movie Rating &amp;
User Preference
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3822191"/>
            <a:ext cx="146304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01168" y="395020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Calibri"/>
              </a:rPr>
              <a:t>Using MovieLens 100K Dataset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4480560"/>
            <a:ext cx="859536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01168" y="4480560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Kaggle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52144" y="4480560"/>
            <a:ext cx="1106424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152144" y="4480560"/>
            <a:ext cx="1106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MovieLens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0008" y="4480560"/>
            <a:ext cx="1353312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350008" y="4480560"/>
            <a:ext cx="1353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100K Ratings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4480560"/>
            <a:ext cx="859536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794760" y="4480560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347472"/>
            <a:ext cx="6638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Dataset at a Glance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30368" y="731520"/>
            <a:ext cx="2121408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5230368" y="731520"/>
            <a:ext cx="212140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5230368" y="822960"/>
            <a:ext cx="21214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B82F6"/>
                </a:solidFill>
                <a:latin typeface="Calibri"/>
              </a:rPr>
              <a:t>9,742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1389888"/>
            <a:ext cx="21214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Total Movies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88936" y="731520"/>
            <a:ext cx="2121408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7488936" y="731520"/>
            <a:ext cx="2121408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7488936" y="822960"/>
            <a:ext cx="21214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6B6D4"/>
                </a:solidFill>
                <a:latin typeface="Calibri"/>
              </a:rPr>
              <a:t>100,836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1389888"/>
            <a:ext cx="21214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Total Ratings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47504" y="731520"/>
            <a:ext cx="2121408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9747504" y="731520"/>
            <a:ext cx="21214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9747504" y="822960"/>
            <a:ext cx="21214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0B981"/>
                </a:solidFill>
                <a:latin typeface="Calibri"/>
              </a:rPr>
              <a:t>610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7504" y="1389888"/>
            <a:ext cx="21214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Unique Users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30368" y="1993392"/>
            <a:ext cx="6638544" cy="46360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5230368" y="1993392"/>
            <a:ext cx="54864" cy="4636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5413248" y="2103120"/>
            <a:ext cx="63642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Project Objectives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13248" y="2615184"/>
            <a:ext cx="82296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5559552" y="2505456"/>
            <a:ext cx="6181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Analyze movie ratings &amp; genre popularity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13248" y="3054096"/>
            <a:ext cx="82296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5559552" y="2944368"/>
            <a:ext cx="6181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Explore user preference patterns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13248" y="3493008"/>
            <a:ext cx="82296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5559552" y="3383280"/>
            <a:ext cx="6181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Visualize key insights from MovieLens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13248" y="3931920"/>
            <a:ext cx="82296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5559552" y="3822192"/>
            <a:ext cx="6181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Support a simple recommendation approach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56616" y="5029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E293B"/>
                </a:solidFill>
                <a:latin typeface="Calibri"/>
              </a:rPr>
              <a:t>Project Overview &amp; Analysis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74552" cy="201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665683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B82F6"/>
                </a:solidFill>
                <a:latin typeface="Calibri"/>
              </a:rPr>
              <a:t>Movie Rating &amp; User Preference Analysis  |  MovieLens 100K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65683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2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8" y="1207008"/>
            <a:ext cx="104698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4A3B8"/>
                </a:solidFill>
                <a:latin typeface="Calibri"/>
              </a:rPr>
              <a:t>ANALYSIS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8" y="1481328"/>
            <a:ext cx="1874519" cy="56692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932690" y="1581912"/>
            <a:ext cx="347472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932690" y="15819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75569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6" y="1600200"/>
            <a:ext cx="13258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chemeClr val="bg1"/>
                </a:solidFill>
                <a:latin typeface="Calibri"/>
              </a:rPr>
              <a:t>Data Cleaning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9777" y="157276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B82F6"/>
                </a:solidFill>
                <a:latin typeface="Calibri"/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08377" y="1481328"/>
            <a:ext cx="1874519" cy="56692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3081529" y="1581912"/>
            <a:ext cx="347472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081529" y="15819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75569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5577" y="1553350"/>
            <a:ext cx="13258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chemeClr val="bg1"/>
                </a:solidFill>
                <a:latin typeface="Calibri"/>
              </a:rPr>
              <a:t>Data Transformation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28616" y="157276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B82F6"/>
                </a:solidFill>
                <a:latin typeface="Calibri"/>
              </a:rPr>
              <a:t>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57216" y="1481328"/>
            <a:ext cx="1874519" cy="56692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5230368" y="1581912"/>
            <a:ext cx="3474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230368" y="15819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4ED8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32704" y="1600200"/>
            <a:ext cx="1325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Calibri"/>
              </a:rPr>
              <a:t>EDA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7455" y="157276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B82F6"/>
                </a:solidFill>
                <a:latin typeface="Calibri"/>
              </a:rPr>
              <a:t>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06055" y="1481328"/>
            <a:ext cx="1874519" cy="56692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7379207" y="1581912"/>
            <a:ext cx="3474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379207" y="15819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4ED8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1543" y="1600200"/>
            <a:ext cx="1325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Data Visualization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6294" y="157276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B82F6"/>
                </a:solidFill>
                <a:latin typeface="Calibri"/>
              </a:rPr>
              <a:t>&gt;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54894" y="1481328"/>
            <a:ext cx="1874519" cy="56692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9528046" y="1581912"/>
            <a:ext cx="3474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9528046" y="15819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4ED8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2" y="1600200"/>
            <a:ext cx="1325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Findings / Insights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432304"/>
            <a:ext cx="5486400" cy="415137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457200" y="2432304"/>
            <a:ext cx="54864" cy="41513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621792" y="252374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3B82F6"/>
                </a:solidFill>
                <a:latin typeface="Calibri"/>
              </a:rPr>
              <a:t>What We Analyze (EDA &amp; Visualization)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2871216"/>
            <a:ext cx="52120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/>
              <a:t>Rating distribution — overall rating </a:t>
            </a:r>
            <a:r>
              <a:rPr lang="en-US" sz="1050" dirty="0" err="1"/>
              <a:t>behaviour</a:t>
            </a:r>
            <a:endParaRPr sz="1050" b="0" i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21792" y="3136392"/>
            <a:ext cx="52120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/>
              <a:t>Most rated movies — movie popularity</a:t>
            </a:r>
            <a:endParaRPr sz="1050" b="0" i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21792" y="3401568"/>
            <a:ext cx="52120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/>
              <a:t>User activity — ratings contributed per user</a:t>
            </a:r>
            <a:endParaRPr sz="1050" b="0" i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1792" y="3666744"/>
            <a:ext cx="52120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050" b="0" i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21792" y="3931920"/>
            <a:ext cx="52120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050" b="0" i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21792" y="3646340"/>
            <a:ext cx="52120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/>
              <a:t>Movie distribution by genre — content representation</a:t>
            </a:r>
            <a:br>
              <a:rPr lang="en-US" sz="1050" dirty="0"/>
            </a:br>
            <a:r>
              <a:rPr lang="en-US" sz="1050" dirty="0"/>
              <a:t>Ratings by genre — genre-level engagement</a:t>
            </a:r>
            <a:endParaRPr sz="1050" i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199632" y="2432304"/>
            <a:ext cx="5532120" cy="415137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/>
          <p:cNvSpPr/>
          <p:nvPr/>
        </p:nvSpPr>
        <p:spPr>
          <a:xfrm>
            <a:off x="6199632" y="2432304"/>
            <a:ext cx="54864" cy="41513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6364224" y="2523744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Dataset Files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4224" y="2871216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movies.csv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313639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  9,742 movies  |  3 columns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64224" y="3401568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movieId, title, genres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64224" y="3666744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6364224" y="3931920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ratings.csv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64224" y="4197096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  100,836 ratings  |  4 columns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64224" y="446227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userId, movieId, rating, timestamp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64224" y="4727448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  Ratings: 0.5–5.0  |  Mean: 3.50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20624" y="25603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E293B"/>
                </a:solidFill>
                <a:latin typeface="Calibri"/>
              </a:rP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78547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Data Cleaning &amp; Transformation – MovieLens 100K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74552" cy="201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665683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B82F6"/>
                </a:solidFill>
                <a:latin typeface="Calibri"/>
              </a:rPr>
              <a:t>Movie Rating &amp; User Preference Analysis  |  MovieLens 100K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65683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3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2715768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271576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" y="1280160"/>
            <a:ext cx="27157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B82F6"/>
                </a:solidFill>
                <a:latin typeface="Calibri"/>
              </a:rPr>
              <a:t>9,742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47088"/>
            <a:ext cx="2715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Total Movies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1188720"/>
            <a:ext cx="2715768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3310128" y="1188720"/>
            <a:ext cx="2715768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310128" y="1280160"/>
            <a:ext cx="27157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6B6D4"/>
                </a:solidFill>
                <a:latin typeface="Calibri"/>
              </a:rPr>
              <a:t>100,836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1847088"/>
            <a:ext cx="2715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Total Ratings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3056" y="1188720"/>
            <a:ext cx="2715768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163056" y="1188720"/>
            <a:ext cx="271576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6163056" y="1280160"/>
            <a:ext cx="27157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0B981"/>
                </a:solidFill>
                <a:latin typeface="Calibri"/>
              </a:rPr>
              <a:t>610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6" y="1847088"/>
            <a:ext cx="2715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Unique Users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15984" y="1188720"/>
            <a:ext cx="2715768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015984" y="1188720"/>
            <a:ext cx="271576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9015984" y="1280160"/>
            <a:ext cx="27157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9E0B"/>
                </a:solidFill>
                <a:latin typeface="Calibri"/>
              </a:rPr>
              <a:t>3.50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5984" y="1847088"/>
            <a:ext cx="2715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Average Rating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450592"/>
            <a:ext cx="2167128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457200" y="2450592"/>
            <a:ext cx="2167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No Missing Values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34056" y="2450592"/>
            <a:ext cx="2167128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2734056" y="2450592"/>
            <a:ext cx="2167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No Duplicates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10912" y="2450592"/>
            <a:ext cx="2167128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5010912" y="2450592"/>
            <a:ext cx="2167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No Duplicate User-Movie Pairs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87768" y="2450592"/>
            <a:ext cx="216712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7287768" y="2450592"/>
            <a:ext cx="2167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Year Feature Extracted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64624" y="2450592"/>
            <a:ext cx="2167128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9564624" y="2450592"/>
            <a:ext cx="2167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Genres Exploded per Row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907792"/>
            <a:ext cx="5440680" cy="3675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457200" y="2907792"/>
            <a:ext cx="54864" cy="36758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621792" y="2999232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movies.csv  –  Structure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3346704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movieId    int64   – Movie identifier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361188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title      string  – Movie title with year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3877056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genres     string  – Pipe-separated genres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4142232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621792" y="440740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9,742 rows  |  3 columns  |  No nulls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4672584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621792" y="493776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Transformations applied: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5202936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 dirty="0">
                <a:solidFill>
                  <a:srgbClr val="475569"/>
                </a:solidFill>
                <a:latin typeface="Calibri"/>
              </a:rPr>
              <a:t>  Year extracted from title via regex</a:t>
            </a:r>
            <a:endParaRPr sz="1050" b="0" i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21792" y="5468112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475569"/>
                </a:solidFill>
                <a:latin typeface="Calibri"/>
              </a:rPr>
              <a:t>  Genres split into individual rows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53912" y="2907792"/>
            <a:ext cx="5577840" cy="3675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/>
          <p:cNvSpPr/>
          <p:nvPr/>
        </p:nvSpPr>
        <p:spPr>
          <a:xfrm>
            <a:off x="6153912" y="2907792"/>
            <a:ext cx="54864" cy="36758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6318504" y="299923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ratings.csv  –  Structure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18504" y="334670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userId     int64   – User identifier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18504" y="36118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movieId    int64   – Movie identifier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18504" y="38770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rating     float64 – Score (0.5 – 5.0)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18504" y="41422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timestamp  int64   – Unix timestamp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18504" y="44074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6318504" y="467258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100,836 rows  |  4 columns  |  No nulls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18504" y="4937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6318504" y="520293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Rating distribution: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18504" y="54681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  4.0 is most frequent (26,818 ratings)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18504" y="57332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  Mean=3.50  Std=1.04  Min=0.5  Max=5.0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Generated image: Exploratory Data Analysis Overview">
            <a:extLst>
              <a:ext uri="{FF2B5EF4-FFF2-40B4-BE49-F238E27FC236}">
                <a16:creationId xmlns:a16="http://schemas.microsoft.com/office/drawing/2014/main" id="{8CB2BC25-AF67-A99F-C8D0-7CAA15DCD2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61637" y="1396224"/>
            <a:ext cx="2185176" cy="2185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AE9940E-8F9A-8BF7-CDED-BAD19EB83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11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632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E293B"/>
                </a:solidFill>
                <a:latin typeface="Calibri"/>
              </a:rPr>
              <a:t>Distribution of Movie Ratings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EDA – How 610 users distribute 100,836 ratings across the 0.5–5.0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77272" y="182880"/>
            <a:ext cx="155448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177272" y="182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11274552" cy="201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665683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B82F6"/>
                </a:solidFill>
                <a:latin typeface="Calibri"/>
              </a:rPr>
              <a:t>Movie Rating &amp; User Preference Analysis  |  MovieLens 100K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5912" y="665683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5 /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115568"/>
            <a:ext cx="7772400" cy="5486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170432"/>
            <a:ext cx="7662672" cy="537667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430768" y="1115568"/>
            <a:ext cx="3483864" cy="54864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430768" y="1115568"/>
            <a:ext cx="54864" cy="5486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8558784" y="1225296"/>
            <a:ext cx="3300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Key Insights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591056"/>
            <a:ext cx="3255264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8558784" y="1755648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8686800" y="1664208"/>
            <a:ext cx="31181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4.0 is the most common rating
(26,818 occurrences)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58784" y="2350008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8686800" y="2258568"/>
            <a:ext cx="31181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3.0 and 3.5 are second and
third most frequent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58784" y="2944368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8641080" y="2798064"/>
            <a:ext cx="311810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/>
              <a:t>Ratings below 2.0 are relatively uncommon, indicating that ratings are concentrated toward moderate-to-high scores.</a:t>
            </a:r>
            <a:endParaRPr sz="1050" b="0" i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558784" y="3538728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8683504" y="3479292"/>
            <a:ext cx="31181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475569"/>
                </a:solidFill>
                <a:latin typeface="Calibri"/>
              </a:rPr>
              <a:t>Mean = 3.50  |  Std = 1.04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58784" y="4133088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8686800" y="4041648"/>
            <a:ext cx="311810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475569"/>
                </a:solidFill>
                <a:latin typeface="Calibri"/>
              </a:rPr>
              <a:t>Distribution peaks at 3.5–4.0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60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1E293B"/>
                </a:solidFill>
                <a:latin typeface="Calibri"/>
              </a:rPr>
              <a:t>Most Rated Movies</a:t>
            </a:r>
            <a:endParaRPr sz="2800" b="1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14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dirty="0"/>
              <a:t>EDA – Most frequently rated movies in the dataset </a:t>
            </a:r>
            <a:endParaRPr sz="1200" b="0" i="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177272" y="182880"/>
            <a:ext cx="1554480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177272" y="182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11274552" cy="201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665683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B82F6"/>
                </a:solidFill>
                <a:latin typeface="Calibri"/>
              </a:rPr>
              <a:t>Movie Rating &amp; User Preference Analysis  |  MovieLens 100K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5912" y="665683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6 /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115568"/>
            <a:ext cx="7772400" cy="5486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170432"/>
            <a:ext cx="7662672" cy="537667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430768" y="1115568"/>
            <a:ext cx="3483864" cy="54864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430768" y="1115568"/>
            <a:ext cx="54864" cy="5486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8558784" y="1225296"/>
            <a:ext cx="3300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Key Insights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591056"/>
            <a:ext cx="3255264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8558784" y="1755648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8686800" y="1664208"/>
            <a:ext cx="311810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/>
              <a:t>Forrest Gump receives the highest number of ratings.</a:t>
            </a:r>
            <a:endParaRPr sz="1050" b="0" i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558784" y="2350008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8686800" y="2258568"/>
            <a:ext cx="31181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/>
              <a:t>The Shawshank Redemption and Pulp Fiction are also among the most frequently rated movies.</a:t>
            </a:r>
            <a:endParaRPr sz="1050" b="0" i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558784" y="2944368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8686800" y="2852928"/>
            <a:ext cx="31181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/>
              <a:t>Several popular titles receive more than 250 user ratings.</a:t>
            </a:r>
            <a:endParaRPr sz="1050" b="0" i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558784" y="3538728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8686800" y="3447288"/>
            <a:ext cx="31181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/>
              <a:t>User attention is concentrated around a relatively small group of highly popular movies.</a:t>
            </a:r>
            <a:endParaRPr sz="1050" b="0" i="0" dirty="0">
              <a:solidFill>
                <a:srgbClr val="47556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60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1E293B"/>
                </a:solidFill>
                <a:latin typeface="Calibri"/>
              </a:rPr>
              <a:t>User Activity Distribution</a:t>
            </a:r>
            <a:endParaRPr sz="2800" b="1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14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94A3B8"/>
                </a:solidFill>
                <a:latin typeface="Calibri"/>
              </a:rPr>
              <a:t>EDA – Understanding user engagement patterns across the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77272" y="182880"/>
            <a:ext cx="1554480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177272" y="182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11274552" cy="201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665683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B82F6"/>
                </a:solidFill>
                <a:latin typeface="Calibri"/>
              </a:rPr>
              <a:t>Movie Rating &amp; User Preference Analysis  |  MovieLens 100K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5912" y="6656832"/>
            <a:ext cx="1188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b="0" i="0">
                <a:solidFill>
                  <a:srgbClr val="94A3B8"/>
                </a:solidFill>
                <a:latin typeface="Calibri"/>
              </a:rPr>
              <a:t>7 / 11</a:t>
            </a:r>
            <a:endParaRPr sz="800" b="0" i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1115568"/>
            <a:ext cx="7772400" cy="5486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8430768" y="1115568"/>
            <a:ext cx="3483864" cy="54864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430768" y="1115568"/>
            <a:ext cx="54864" cy="5486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8558784" y="1225296"/>
            <a:ext cx="33009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>
                <a:solidFill>
                  <a:srgbClr val="06B6D4"/>
                </a:solidFill>
                <a:latin typeface="Calibri"/>
              </a:rPr>
              <a:t>Key Insight</a:t>
            </a:r>
            <a:endParaRPr sz="1200" b="1" i="0">
              <a:solidFill>
                <a:srgbClr val="06B6D4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558784" y="1591056"/>
            <a:ext cx="3255264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 hidden="1"/>
          <p:cNvSpPr/>
          <p:nvPr/>
        </p:nvSpPr>
        <p:spPr>
          <a:xfrm>
            <a:off x="8558784" y="1755648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 hidden="1"/>
          <p:cNvSpPr/>
          <p:nvPr/>
        </p:nvSpPr>
        <p:spPr>
          <a:xfrm>
            <a:off x="8558784" y="2350008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8558784" y="2044142"/>
            <a:ext cx="311810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/>
              <a:t>The distribution is strongly right-skewed.</a:t>
            </a:r>
            <a:endParaRPr sz="1050" b="0" i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21" name="Rectangle 20" hidden="1"/>
          <p:cNvSpPr/>
          <p:nvPr/>
        </p:nvSpPr>
        <p:spPr>
          <a:xfrm>
            <a:off x="8558784" y="2944368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8558657" y="2340500"/>
            <a:ext cx="31181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/>
              <a:t>Most users contribute relatively few ratings, while a few highly active users contribute much more.</a:t>
            </a:r>
            <a:endParaRPr sz="1050" b="0" i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23" name="Rectangle 22" hidden="1"/>
          <p:cNvSpPr/>
          <p:nvPr/>
        </p:nvSpPr>
        <p:spPr>
          <a:xfrm>
            <a:off x="8558784" y="3538728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8558784" y="2834276"/>
            <a:ext cx="31181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/>
              <a:t>Highly active users provide richer preference information than less active users.</a:t>
            </a:r>
            <a:endParaRPr sz="1050" b="0" i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25" name="Rectangle 24" hidden="1"/>
          <p:cNvSpPr/>
          <p:nvPr/>
        </p:nvSpPr>
        <p:spPr>
          <a:xfrm>
            <a:off x="8558784" y="4133088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 hidden="1"/>
          <p:cNvSpPr txBox="1"/>
          <p:nvPr/>
        </p:nvSpPr>
        <p:spPr>
          <a:xfrm>
            <a:off x="8686800" y="4041648"/>
            <a:ext cx="311810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050" b="0" i="0">
              <a:solidFill>
                <a:srgbClr val="475569"/>
              </a:solidFill>
              <a:latin typeface="Calibri"/>
            </a:endParaRPr>
          </a:p>
        </p:txBody>
      </p:sp>
      <p:pic>
        <p:nvPicPr>
          <p:cNvPr id="28" name="Hình ảnh 27">
            <a:extLst>
              <a:ext uri="{FF2B5EF4-FFF2-40B4-BE49-F238E27FC236}">
                <a16:creationId xmlns:a16="http://schemas.microsoft.com/office/drawing/2014/main" id="{70BF8418-C16B-D907-A492-D8D2BDEDE41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170432"/>
            <a:ext cx="7662672" cy="537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63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60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1E293B"/>
                </a:solidFill>
                <a:latin typeface="Calibri"/>
              </a:rPr>
              <a:t>Movie Distribution by Genre</a:t>
            </a:r>
            <a:endParaRPr lang="en-US" sz="2800" b="1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14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94A3B8"/>
                </a:solidFill>
                <a:latin typeface="Calibri"/>
              </a:rPr>
              <a:t>Visualization – </a:t>
            </a:r>
            <a:r>
              <a:rPr lang="en-US" sz="1200" dirty="0">
                <a:solidFill>
                  <a:srgbClr val="94A3B8"/>
                </a:solidFill>
                <a:latin typeface="Calibri"/>
              </a:rPr>
              <a:t>number of movies available in each genre</a:t>
            </a:r>
            <a:endParaRPr sz="1200" b="0" i="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177272" y="182880"/>
            <a:ext cx="155448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177272" y="182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VISUALIZATION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11274552" cy="201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665683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B82F6"/>
                </a:solidFill>
                <a:latin typeface="Calibri"/>
              </a:rPr>
              <a:t>Movie Rating &amp; User Preference Analysis  |  MovieLens 100K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5912" y="665683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8 /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115568"/>
            <a:ext cx="7772400" cy="5486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170432"/>
            <a:ext cx="7662672" cy="537667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430768" y="1115568"/>
            <a:ext cx="3483864" cy="54864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430768" y="1115568"/>
            <a:ext cx="54864" cy="5486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8558784" y="1225296"/>
            <a:ext cx="3300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Key Insights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591056"/>
            <a:ext cx="3255264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8558784" y="1755648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8686800" y="1664208"/>
            <a:ext cx="31181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/>
              <a:t>Drama contains the largest number of movies in the dataset.</a:t>
            </a:r>
            <a:endParaRPr sz="1050" b="0" i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558784" y="2350008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8686800" y="2258568"/>
            <a:ext cx="311810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/>
              <a:t>Comedy is the second most represented genre.</a:t>
            </a:r>
            <a:endParaRPr sz="1050" b="0" i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558784" y="2944368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8686800" y="2852928"/>
            <a:ext cx="31181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/>
              <a:t>Thriller, Action, and Romance are also strongly represented.</a:t>
            </a:r>
            <a:endParaRPr sz="1050" b="0" i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558784" y="3538728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8686800" y="3447288"/>
            <a:ext cx="31181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/>
              <a:t>Genres such as Film-Noir, IMAX, and Western contain far fewer movies.</a:t>
            </a:r>
            <a:endParaRPr sz="1050" b="0" i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558784" y="4133088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8686800" y="4041648"/>
            <a:ext cx="31181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/>
              <a:t>Movie availability is unevenly distributed across genres.</a:t>
            </a:r>
            <a:endParaRPr sz="1050" b="0" i="0" dirty="0">
              <a:solidFill>
                <a:srgbClr val="47556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60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1E293B"/>
                </a:solidFill>
                <a:latin typeface="Calibri"/>
              </a:rPr>
              <a:t>Number of Ratings by Genre</a:t>
            </a:r>
            <a:endParaRPr sz="2800" b="1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14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94A3B8"/>
                </a:solidFill>
                <a:latin typeface="Calibri"/>
              </a:rPr>
              <a:t>Visualization – </a:t>
            </a:r>
            <a:r>
              <a:rPr lang="en-US" sz="1200" dirty="0">
                <a:solidFill>
                  <a:srgbClr val="94A3B8"/>
                </a:solidFill>
                <a:latin typeface="Calibri"/>
              </a:rPr>
              <a:t>Genre popularity by total rating count</a:t>
            </a:r>
            <a:endParaRPr sz="1200" b="0" i="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177272" y="182880"/>
            <a:ext cx="155448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177272" y="182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VISUALIZATION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11274552" cy="201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665683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B82F6"/>
                </a:solidFill>
                <a:latin typeface="Calibri"/>
              </a:rPr>
              <a:t>Movie Rating &amp; User Preference Analysis  |  MovieLens 100K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5912" y="665683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9 /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115568"/>
            <a:ext cx="7772400" cy="5486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170432"/>
            <a:ext cx="7662672" cy="537667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430768" y="1115568"/>
            <a:ext cx="3483864" cy="54864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430768" y="1115568"/>
            <a:ext cx="54864" cy="5486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8558784" y="1225296"/>
            <a:ext cx="3300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Key Insights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591056"/>
            <a:ext cx="3255264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8558784" y="1755648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8686800" y="1664208"/>
            <a:ext cx="31181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Drama &amp; Comedy dominate by
total rating volume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58784" y="2350008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8686800" y="2258568"/>
            <a:ext cx="31181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Action, Thriller, Sci-Fi are
heavily reviewed genres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58784" y="2944368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8686800" y="2852928"/>
            <a:ext cx="31181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/>
              <a:t>Some genres receive substantially more ratings than others.</a:t>
            </a:r>
            <a:endParaRPr sz="1050" b="0" i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558784" y="3538728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8686800" y="3447288"/>
            <a:ext cx="311810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/>
              <a:t>User interaction is unevenly distributed across genres.</a:t>
            </a:r>
            <a:endParaRPr sz="1050" b="0" i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558784" y="4133088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8686800" y="4041648"/>
            <a:ext cx="311810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/>
              <a:t>Genres with more available movies also tend to receive more ratings, although the level of engagement is not identical across genres.</a:t>
            </a:r>
            <a:endParaRPr sz="1050" b="0" i="0" dirty="0">
              <a:solidFill>
                <a:srgbClr val="47556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  <a:latin typeface="Calibri"/>
              </a:rPr>
              <a:t>Findings &amp;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Key discoveries from EDA and Data Visualization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74552" cy="201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665683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B82F6"/>
                </a:solidFill>
                <a:latin typeface="Calibri"/>
              </a:rPr>
              <a:t>Movie Rating &amp; User Preference Analysis  |  MovieLens 100K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65683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10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07008"/>
            <a:ext cx="55092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1207008"/>
            <a:ext cx="5509260" cy="594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94360" y="1325880"/>
            <a:ext cx="384048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78992" y="1335024"/>
            <a:ext cx="47594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Rating Behaviour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755648"/>
            <a:ext cx="523494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94360" y="1828800"/>
            <a:ext cx="52349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0" i="0" dirty="0">
                <a:solidFill>
                  <a:srgbClr val="475569"/>
                </a:solidFill>
                <a:latin typeface="Calibri"/>
              </a:rPr>
              <a:t>Users tend to give moderate-to-high ratings, with an average rating of about 3.5/5. Very low ratings are relatively uncommon.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2492" y="1207008"/>
            <a:ext cx="55092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6222492" y="1207008"/>
            <a:ext cx="550926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6359652" y="1325880"/>
            <a:ext cx="384048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844284" y="1335024"/>
            <a:ext cx="47594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solidFill>
                  <a:srgbClr val="1E293B"/>
                </a:solidFill>
                <a:latin typeface="Calibri"/>
              </a:rPr>
              <a:t>Movie Popularity </a:t>
            </a:r>
            <a:endParaRPr sz="1200" b="1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359652" y="1755648"/>
            <a:ext cx="523494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359652" y="1828800"/>
            <a:ext cx="52349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0" i="0" dirty="0">
                <a:solidFill>
                  <a:srgbClr val="475569"/>
                </a:solidFill>
                <a:latin typeface="Calibri"/>
              </a:rPr>
              <a:t>A small group of movies receives substantially more ratings than others, showing that user attention is concentrated on several highly popular titles.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328416"/>
            <a:ext cx="55092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457200" y="3328416"/>
            <a:ext cx="5509260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594360" y="3447288"/>
            <a:ext cx="384048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078992" y="3456432"/>
            <a:ext cx="47594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solidFill>
                  <a:srgbClr val="1E293B"/>
                </a:solidFill>
                <a:latin typeface="Calibri"/>
              </a:rPr>
              <a:t>Genre Representation </a:t>
            </a:r>
            <a:endParaRPr sz="1200" b="1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94360" y="3877056"/>
            <a:ext cx="523494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594360" y="3950208"/>
            <a:ext cx="52349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0" i="0" dirty="0">
                <a:solidFill>
                  <a:srgbClr val="475569"/>
                </a:solidFill>
                <a:latin typeface="Calibri"/>
              </a:rPr>
              <a:t>The number of movies varies significantly across genres, indicating an uneven distribution of content in the dataset.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22492" y="3328416"/>
            <a:ext cx="55092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6222492" y="3328416"/>
            <a:ext cx="5509260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6359652" y="3447288"/>
            <a:ext cx="384048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6844284" y="3456432"/>
            <a:ext cx="47594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>
                <a:solidFill>
                  <a:srgbClr val="1E293B"/>
                </a:solidFill>
                <a:latin typeface="Calibri"/>
              </a:rPr>
              <a:t>Genre Engagement </a:t>
            </a:r>
            <a:endParaRPr sz="1200" b="1" i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359652" y="3877056"/>
            <a:ext cx="523494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6359652" y="3950208"/>
            <a:ext cx="52349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0" i="0" dirty="0">
                <a:solidFill>
                  <a:srgbClr val="475569"/>
                </a:solidFill>
                <a:latin typeface="Calibri"/>
              </a:rPr>
              <a:t>Some genres receive considerably more ratings than others, suggesting different levels of user interaction across genres.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49824"/>
            <a:ext cx="11274552" cy="1039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457200" y="5449824"/>
            <a:ext cx="11274552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594360" y="5568696"/>
            <a:ext cx="384048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078992" y="5577840"/>
            <a:ext cx="105247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dirty="0">
                <a:solidFill>
                  <a:srgbClr val="1E293B"/>
                </a:solidFill>
                <a:latin typeface="Calibri"/>
              </a:rPr>
              <a:t>User Activity</a:t>
            </a:r>
            <a:endParaRPr sz="1200" b="1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94360" y="5998464"/>
            <a:ext cx="11000232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594360" y="6071616"/>
            <a:ext cx="110002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User rating activity is highly uneven: most users contribute relatively few ratings, while a small number of highly active users contribute much more.</a:t>
            </a:r>
            <a:endParaRPr lang="en-US" sz="1050" dirty="0">
              <a:effectLst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What we learned – and what comes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74552" cy="201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665683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B82F6"/>
                </a:solidFill>
                <a:latin typeface="Calibri"/>
              </a:rPr>
              <a:t>Movie Rating &amp; User Preference Analysis  |  MovieLens 100K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65683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11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1274552" cy="3154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64008" cy="3154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40080" y="1280160"/>
            <a:ext cx="11000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Summary of Findings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792224"/>
            <a:ext cx="82296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04672" y="1709928"/>
            <a:ext cx="10817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Data Quality:  No missing values, no duplicates – the dataset is clean and ready for modeling.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221992"/>
            <a:ext cx="82296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804672" y="2139696"/>
            <a:ext cx="10817352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475569"/>
                </a:solidFill>
                <a:latin typeface="Calibri"/>
              </a:rPr>
              <a:t>Rating Insight:</a:t>
            </a:r>
            <a:r>
              <a:rPr lang="en-US" sz="1150" b="0" i="0" dirty="0">
                <a:solidFill>
                  <a:srgbClr val="475569"/>
                </a:solidFill>
                <a:latin typeface="Calibri"/>
              </a:rPr>
              <a:t> Ratings are concentrated toward moderate-to-high scores, with an average rating of about 3.5/5</a:t>
            </a:r>
            <a:endParaRPr sz="1150" b="0" i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0080" y="2651760"/>
            <a:ext cx="82296" cy="8229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804672" y="2569464"/>
            <a:ext cx="108173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475569"/>
                </a:solidFill>
                <a:latin typeface="Calibri"/>
              </a:rPr>
              <a:t>Genre Insight:</a:t>
            </a:r>
            <a:r>
              <a:rPr lang="en-US" sz="1150" b="0" i="0" dirty="0">
                <a:solidFill>
                  <a:srgbClr val="475569"/>
                </a:solidFill>
                <a:latin typeface="Calibri"/>
              </a:rPr>
              <a:t> Movie availability and user rating activity are </a:t>
            </a:r>
            <a:r>
              <a:rPr lang="en-US" sz="1150" dirty="0">
                <a:solidFill>
                  <a:srgbClr val="475569"/>
                </a:solidFill>
                <a:latin typeface="Calibri"/>
              </a:rPr>
              <a:t>unevenly distributed across genres</a:t>
            </a:r>
            <a:r>
              <a:rPr sz="1150" b="0" i="0" dirty="0">
                <a:solidFill>
                  <a:srgbClr val="475569"/>
                </a:solidFill>
                <a:latin typeface="Calibri"/>
              </a:rPr>
              <a:t>.</a:t>
            </a:r>
            <a:r>
              <a:rPr lang="en-US" sz="1200" dirty="0"/>
              <a:t> </a:t>
            </a:r>
            <a:endParaRPr sz="1150" b="0" i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0080" y="3081528"/>
            <a:ext cx="82296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804672" y="2999232"/>
            <a:ext cx="108173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475569"/>
                </a:solidFill>
                <a:latin typeface="Calibri"/>
              </a:rPr>
              <a:t>User Insight:  User</a:t>
            </a:r>
            <a:r>
              <a:rPr lang="en-US" sz="1150" b="0" i="0" dirty="0">
                <a:solidFill>
                  <a:srgbClr val="475569"/>
                </a:solidFill>
                <a:latin typeface="Calibri"/>
              </a:rPr>
              <a:t> activity is highly uneven, with a small group of highly active users contributing much more rating information</a:t>
            </a:r>
            <a:r>
              <a:rPr sz="1150" b="0" i="0" dirty="0">
                <a:solidFill>
                  <a:srgbClr val="475569"/>
                </a:solidFill>
                <a:latin typeface="Calibri"/>
              </a:rPr>
              <a:t>.</a:t>
            </a:r>
            <a:r>
              <a:rPr lang="en-US" sz="1200" dirty="0"/>
              <a:t> </a:t>
            </a:r>
            <a:endParaRPr sz="1150" b="0" i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0080" y="3511296"/>
            <a:ext cx="82296" cy="822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804672" y="3429000"/>
            <a:ext cx="108173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475569"/>
                </a:solidFill>
                <a:latin typeface="Calibri"/>
              </a:rPr>
              <a:t>Visualization:</a:t>
            </a:r>
            <a:r>
              <a:rPr lang="en-US" sz="1150" b="0" i="0" dirty="0">
                <a:solidFill>
                  <a:srgbClr val="475569"/>
                </a:solidFill>
                <a:latin typeface="Calibri"/>
              </a:rPr>
              <a:t> EDA reveals clear patterns in rating </a:t>
            </a:r>
            <a:r>
              <a:rPr lang="en-US" sz="1150" b="0" i="0" dirty="0" err="1">
                <a:solidFill>
                  <a:srgbClr val="475569"/>
                </a:solidFill>
                <a:latin typeface="Calibri"/>
              </a:rPr>
              <a:t>behaviour</a:t>
            </a:r>
            <a:r>
              <a:rPr lang="en-US" sz="1150" dirty="0">
                <a:solidFill>
                  <a:srgbClr val="475569"/>
                </a:solidFill>
                <a:latin typeface="Calibri"/>
              </a:rPr>
              <a:t>, movie popularity, user activity and genre engagement</a:t>
            </a:r>
            <a:r>
              <a:rPr sz="1150" b="0" i="0" dirty="0">
                <a:solidFill>
                  <a:srgbClr val="475569"/>
                </a:solidFill>
                <a:latin typeface="Calibri"/>
              </a:rPr>
              <a:t>.</a:t>
            </a:r>
            <a:r>
              <a:rPr lang="en-US" sz="1200" dirty="0"/>
              <a:t> </a:t>
            </a:r>
            <a:endParaRPr sz="1150" b="0" i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57200" y="4572000"/>
            <a:ext cx="11274552" cy="2011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457200" y="4572000"/>
            <a:ext cx="64008" cy="2011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40080" y="4681728"/>
            <a:ext cx="11000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Coming up in the Final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74920"/>
            <a:ext cx="11000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→  Feature Engineering  |  K-Means Clustering  |  Determine Optimal 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67528"/>
            <a:ext cx="11000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→  Analyze User Cluster Characteristics  |  Model 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660136"/>
            <a:ext cx="11000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→  Personalized Movie Recommendations based on cluster preferences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1012</Words>
  <Application>Microsoft Office PowerPoint</Application>
  <PresentationFormat>Custom</PresentationFormat>
  <Paragraphs>164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Hữu Long Đỗ</cp:lastModifiedBy>
  <cp:revision>17</cp:revision>
  <dcterms:created xsi:type="dcterms:W3CDTF">2013-01-27T09:14:16Z</dcterms:created>
  <dcterms:modified xsi:type="dcterms:W3CDTF">2026-09-12T09:23:19Z</dcterms:modified>
  <cp:category/>
</cp:coreProperties>
</file>