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</p:sldIdLst>
  <p:sldSz cx="18288000" cy="10287000"/>
  <p:notesSz cx="6858000" cy="9144000"/>
  <p:embeddedFontLst>
    <p:embeddedFont>
      <p:font typeface="Calibri (MS)" panose="020B0604020202020204" charset="0"/>
      <p:regular r:id="rId24"/>
    </p:embeddedFont>
    <p:embeddedFont>
      <p:font typeface="Canva Sans Bold Italics" panose="020B0604020202020204" charset="0"/>
      <p:regular r:id="rId25"/>
    </p:embeddedFont>
    <p:embeddedFont>
      <p:font typeface="Fira Code" panose="020B0809050000020004" pitchFamily="49" charset="0"/>
      <p:regular r:id="rId26"/>
    </p:embeddedFont>
    <p:embeddedFont>
      <p:font typeface="Fira Code Bold" panose="020B0809050000020004" charset="0"/>
      <p:regular r:id="rId27"/>
    </p:embeddedFont>
    <p:embeddedFont>
      <p:font typeface="Mina Bold" panose="020B0604020202020204" charset="0"/>
      <p:regular r:id="rId28"/>
    </p:embeddedFont>
    <p:embeddedFont>
      <p:font typeface="RQND Pro Condensed" panose="020B0604020202020204" charset="0"/>
      <p:regular r:id="rId29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3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vi-V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Silhouette mean</c:v>
          </c:tx>
          <c:spPr>
            <a:solidFill>
              <a:srgbClr val="3B5CA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2B2B2B"/>
                    </a:solidFill>
                    <a:latin typeface="Fira Code"/>
                    <a:ea typeface="Fira Code"/>
                    <a:cs typeface="Fira Cod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K=5</c:v>
                </c:pt>
                <c:pt idx="1">
                  <c:v>K=6</c:v>
                </c:pt>
                <c:pt idx="2">
                  <c:v>K=7</c:v>
                </c:pt>
                <c:pt idx="3">
                  <c:v>K=8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4.2900000000000001E-2</c:v>
                </c:pt>
                <c:pt idx="1">
                  <c:v>2.64E-2</c:v>
                </c:pt>
                <c:pt idx="2">
                  <c:v>2.8799999999999999E-2</c:v>
                </c:pt>
                <c:pt idx="3">
                  <c:v>2.6200000000000001E-2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66A-486B-A388-A9D60CC526F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2B2B2B"/>
                </a:solidFill>
                <a:latin typeface="Fira Code"/>
                <a:ea typeface="Fira Code"/>
                <a:cs typeface="Fira Cod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05"/>
          <c:min val="0"/>
        </c:scaling>
        <c:delete val="0"/>
        <c:axPos val="l"/>
        <c:majorGridlines>
          <c:spPr>
            <a:ln w="9525">
              <a:solidFill>
                <a:srgbClr val="DEDEDE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Fira Code"/>
                    <a:ea typeface="Fira Code"/>
                    <a:cs typeface="Fira Code"/>
                  </a:rPr>
                  <a:t>Higher is better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2B2B2B"/>
                </a:solidFill>
                <a:latin typeface="Fira Code"/>
                <a:ea typeface="Fira Code"/>
                <a:cs typeface="Fira Code"/>
              </a:defRPr>
            </a:pPr>
            <a:endParaRPr lang="en-US"/>
          </a:p>
        </c:txPr>
        <c:crossAx val="48650112"/>
        <c:crosses val="autoZero"/>
        <c:crossBetween val="between"/>
        <c:majorUnit val="0.0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vi-V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Users</c:v>
          </c:tx>
          <c:spPr>
            <a:solidFill>
              <a:srgbClr val="5E46A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2B2B2B"/>
                    </a:solidFill>
                    <a:latin typeface="Fira Code"/>
                    <a:ea typeface="Fira Code"/>
                    <a:cs typeface="Fira Cod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Cluster 4</c:v>
                </c:pt>
                <c:pt idx="1">
                  <c:v>Cluster 3</c:v>
                </c:pt>
                <c:pt idx="2">
                  <c:v>Cluster 2</c:v>
                </c:pt>
                <c:pt idx="3">
                  <c:v>Cluster 1</c:v>
                </c:pt>
                <c:pt idx="4">
                  <c:v>Cluster 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136</c:v>
                </c:pt>
                <c:pt idx="1">
                  <c:v>25</c:v>
                </c:pt>
                <c:pt idx="2">
                  <c:v>63</c:v>
                </c:pt>
                <c:pt idx="3">
                  <c:v>279</c:v>
                </c:pt>
                <c:pt idx="4">
                  <c:v>107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4A9-4C29-8AA7-D35D2F98BD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425">
                <a:solidFill>
                  <a:srgbClr val="2B2B2B"/>
                </a:solidFill>
                <a:latin typeface="Fira Code"/>
                <a:ea typeface="Fira Code"/>
                <a:cs typeface="Fira Code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B2B2B"/>
                </a:solidFill>
                <a:latin typeface="Fira Code"/>
                <a:ea typeface="Fira Code"/>
                <a:cs typeface="Fira Cod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Presentation order requested by the group. Report §4 supplies the three EDA figures. The report selects K=5 with random_state=42 and n_init=10. The supplied recommender.ipynb still sets K_OPTIMAL=6 and implements a different KNN/vote-ranking recommendation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movies.csv and ratings.csv, independently checked; 100,836 rating events, 610 users, 9,742 movies, zero missing entries, zero unmatched IDs and zero duplicate user/movie pairs. The 34 movies marked (no genres listed) remain in the source but are not a genre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image extracted without redrawing from report (2)(1).pdf, PDF page 9, Figure 3. The 0.5-star categories are read directly from the original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image extracted without redrawing from report (2)(1).pdf, PDF page 10, Figure 4. The plotted x-axis is Number of Ratings per User and y-axis is Number of Users. Report §4.2 incorrectly describes it as a distribution of per-user mean ratings; no claim about mean rating is inferred from this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 image extracted without redrawing from report (2)(1).pdf, PDF page 11, Figure 5. Each movie with several genres contributes to multiple category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 §3.5 and §5.2. K-Means is fitted on StandardScaler output from the 610×19 centered User–Genre matrix. Candidate values K=2 through K=14 use random_state=42 and n_init=10.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 PDF pages 12–13, Tables 8 and 9. K=5 mean Silhouette 0.0429 (SD 0.0139) across report-tested seeds; K=6 0.0264, K=7 0.0288, K=8 0.0262. Report SSE for K=5 = 9430.9; no single sharp elbow. Worst min cluster across tested seeds = 18 for K=5. K=5 is a practical trade-off, not a universal metric optimum. Supplied notebook still hard-codes K_OPTIMAL=6.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 PDF page 8 Table 6, page 13 discussion, and independent rerun on supplied CSV using StandardScaler and KMeans(n_clusters=5,random_state=42,n_init=10). Cluster labels 0–4 and sizes 107,279,63,25,136 match the report exactly. Displayed top three and bottom two genres are means of centered features by cluster, independently recomputed.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independent K=5 recomputation on supplied CSV confirms single-run Silhouette 0.063847, Davies–Bouldin 2.675324, smallest cluster 25. Multi-seed means and SD are from report PDF page 13 Table 9, with seed list not specified there. The low Silhouette values limit the strength of separation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 PDF pages 8–9, §3.6. This is the report’s cluster-based weighted-ranking procedure (tau=3), not the supplied recommender.ipynb implementation. The notebook currently uses K=6, cosine KNN within cluster, min_votes=2 and vote ranking. Revise notebook before presenting this report procedure as implemented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 PDF page 14 Table 10. Independently reproduced from supplied CSV: User 50 has 310 ratings, mean 2.780645 and K=5 cluster 0. Exclude user 50 and watched movies; require at least 3 other cluster ratings; score = avg_rating × log(1+count). Movie IDs 50,527,2858,1193,47 yield reported order and scores. These results do not come from the supplied recommender.ipynb KNN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report PDF §5.4, Table 10, and independent K=5 recomputation on the supplied MovieLens CSV. User 50 has 310 prior ratings and belongs to cluster 0 (107 users total). The other 106 users provide candidate ratings. Exclude movies rated by User 50, require at least three cluster ratings, then rank by average rating × ln(1+rating count). The five displayed titles and numeric values match the report. They are recommendations; the dataset does not establish that User 50 has watched or liked these five movies.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B7F4-E4CB-4D19-A5C1-4B6CCDE9E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B6549-D2DA-444B-B86D-3FAD77B3F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3C4F2-FDF3-465B-906E-C481A7CEB4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9BFD6-4F52-44D8-B12B-15B01740D2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E5777-FF9E-4F7E-BEDA-DDE7B601A3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2023-7B7A-45E2-A86E-6BF6307A1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B1A1B-755C-4FF7-B74D-FDEB3FC3F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514F0-6766-4850-B581-6F16EB90BD8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68157-7AE0-4D17-ABA9-D8F8A9A6EE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AC71F-DEAE-46BD-A987-742AE9B3B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93D8-A57F-40EC-A456-B75659FB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20780-05A5-4F90-B66F-5C56461D7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6C777-AB79-46AF-9943-32CC82418F5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F098D-66DB-44C6-A22D-2E2F87E3BB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BFF71-AB33-4294-912C-BEE96EE109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2873-CEB6-432C-BFF5-11E6F956A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718CA-17D9-4BC5-9664-CFC2E2145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56D00-ADF3-42E6-9EE7-8AF8F21B10A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CE931-8758-4042-8E9E-43FC7F3A89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04DBE6-FDFC-4D13-8653-BEAA002E71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DE19EF-D25A-4B4B-8701-6E924CCAC1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73FEE-DB78-4F6B-808B-63E5FD661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908B4-AA8A-47DA-8534-C730B4FD8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03BB7-C601-4AB3-9551-193FBEE0BF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656759-44FB-4EDB-B115-102FF98F91A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192D3-66F7-42D1-8E6C-02EFDB57DE8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30271-715F-4DAD-A882-11D911339F5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A3C21E-E21C-4B50-8B71-43E8B72DB9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A2F08D-E58D-4177-8B52-D622BEBAA0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BBDEE-72FC-4FDA-AD1A-5E073511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AC0176-B800-4A18-B023-0723CB657C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DFF62A-5ACF-4274-BB8A-E109AFE64F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0D949-E52B-40AF-9AB3-28157FEA0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E49FF-2367-49A4-A1C9-739CDAA2F5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DC0DA-9218-4D8D-8F6B-B845D1A16E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AEEE7-A58C-457A-AD22-4CC94FB301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2BF63-E107-4833-A981-68F2396A0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9B7B5-4310-4946-8CBB-62E9C8435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97FE4C-3468-4077-99C6-7CBBD92D03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C216D1-6561-41B4-BC4B-F94BE9FD67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49B8F-93CB-4304-9C17-32B92689A85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AF010-B808-4165-9208-E99C64AD52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4662-2A3E-4733-9467-4D03F20A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B18FF-2B4B-44A5-8E27-F0E2E4BAD1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B53CC-3594-4820-AACD-BF7BE049C32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45AB57-EECD-43F3-BCA6-1F8CE3908DE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4C1B5-93E2-4E02-B8DE-F0E8DAC842F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92371-A473-4FE4-8D4B-B26421112D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3C1C4-932C-48DC-B2A9-3B564C16F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F1C94-3F93-4F8B-8411-E374B824E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32D5D-2F07-41EE-A9FC-0F2F98BB9C0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585E2-5289-4C69-B82E-992120ED053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B75DE-D5AC-45E1-993D-76E4AA1C66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17955-0071-413E-80FF-6D0A74CE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4768B6-078E-450E-BFE3-A8F5081A0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6B8F6-B8E1-4B03-B4C3-048B22ED68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3AA8C-8CF7-4C3F-959E-37CB622520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6CC13-EA6E-4B99-B1D4-FA32A7DD20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E0E42-48FD-4173-95AB-76EDCEC70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02958-49DF-4984-8697-FB2B0A59F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FA50F-AE4B-4CB2-BF9A-23D5CDBDC81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9/30/2026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31A7C-10D0-42E1-A9B8-05E0D005F76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77BB2-309B-41CB-A563-2DBE7F6C130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9C84CFC-065C-4F6B-A9C9-E615CE61EF28}"/>
              </a:ext>
            </a:extLst>
          </p:cNvPr>
          <p:cNvSpPr>
            <a:spLocks noGrp="1"/>
          </p:cNvSpPr>
          <p:nvPr/>
        </p:nvSpPr>
        <p:spPr>
          <a:xfrm>
            <a:off x="1028700" y="4805361"/>
            <a:ext cx="1543050" cy="6302888"/>
          </a:xfrm>
          <a:custGeom>
            <a:avLst/>
            <a:gdLst/>
            <a:ahLst/>
            <a:cxnLst/>
            <a:rect l="l" t="t" r="r" b="b"/>
            <a:pathLst>
              <a:path w="406400" h="1660020">
                <a:moveTo>
                  <a:pt x="0" y="0"/>
                </a:moveTo>
                <a:lnTo>
                  <a:pt x="406400" y="0"/>
                </a:lnTo>
                <a:lnTo>
                  <a:pt x="406400" y="1660020"/>
                </a:lnTo>
                <a:lnTo>
                  <a:pt x="0" y="1660020"/>
                </a:lnTo>
                <a:close/>
              </a:path>
            </a:pathLst>
          </a:custGeom>
          <a:solidFill>
            <a:srgbClr val="2B2B2B"/>
          </a:solid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AD89CE7-EA5C-430A-86D7-7EEBE2ABBFA2}"/>
              </a:ext>
            </a:extLst>
          </p:cNvPr>
          <p:cNvSpPr>
            <a:spLocks noGrp="1"/>
          </p:cNvSpPr>
          <p:nvPr/>
        </p:nvSpPr>
        <p:spPr>
          <a:xfrm>
            <a:off x="1028700" y="4913856"/>
            <a:ext cx="1543050" cy="619439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1800"/>
              </a:lnSpc>
              <a:buNone/>
            </a:pPr>
            <a:endParaRPr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B3B5EC8-E43E-40DC-9FAF-39A3D4EA7F87}"/>
              </a:ext>
            </a:extLst>
          </p:cNvPr>
          <p:cNvSpPr>
            <a:spLocks noGrp="1"/>
          </p:cNvSpPr>
          <p:nvPr/>
        </p:nvSpPr>
        <p:spPr>
          <a:xfrm>
            <a:off x="2073279" y="1595929"/>
            <a:ext cx="14141441" cy="12033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599"/>
              </a:lnSpc>
              <a:buNone/>
            </a:pPr>
            <a:r>
              <a:rPr sz="9999" spc="-199">
                <a:solidFill>
                  <a:srgbClr val="2B2B2B"/>
                </a:solidFill>
                <a:latin typeface="RQND Pro Condensed"/>
                <a:ea typeface="RQND Pro Condensed"/>
                <a:cs typeface="RQND Pro Condensed"/>
              </a:rPr>
              <a:t>MOVIE RECOMMENDATION SYSTEM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3064964-B13B-4D5A-920D-8CEE1FD5E6D3}"/>
              </a:ext>
            </a:extLst>
          </p:cNvPr>
          <p:cNvSpPr>
            <a:spLocks noGrp="1"/>
          </p:cNvSpPr>
          <p:nvPr/>
        </p:nvSpPr>
        <p:spPr>
          <a:xfrm>
            <a:off x="1028700" y="4805361"/>
            <a:ext cx="16230600" cy="0"/>
          </a:xfrm>
          <a:prstGeom prst="line">
            <a:avLst/>
          </a:prstGeom>
          <a:ln w="9525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8354D67E-E2C5-4B99-B784-AE7B1C34B9E3}"/>
              </a:ext>
            </a:extLst>
          </p:cNvPr>
          <p:cNvSpPr>
            <a:spLocks noGrp="1"/>
          </p:cNvSpPr>
          <p:nvPr/>
        </p:nvSpPr>
        <p:spPr>
          <a:xfrm>
            <a:off x="1028700" y="2799253"/>
            <a:ext cx="16230600" cy="0"/>
          </a:xfrm>
          <a:prstGeom prst="line">
            <a:avLst/>
          </a:prstGeom>
          <a:ln w="9525">
            <a:solidFill>
              <a:srgbClr val="2B2B2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7875954-CCEA-46A0-A166-149DC725C5A6}"/>
              </a:ext>
            </a:extLst>
          </p:cNvPr>
          <p:cNvSpPr>
            <a:spLocks noGrp="1"/>
          </p:cNvSpPr>
          <p:nvPr/>
        </p:nvSpPr>
        <p:spPr>
          <a:xfrm>
            <a:off x="1028700" y="3689840"/>
            <a:ext cx="352791" cy="88198"/>
          </a:xfrm>
          <a:custGeom>
            <a:avLst/>
            <a:gdLst/>
            <a:ahLst/>
            <a:cxnLst/>
            <a:rect l="l" t="t" r="r" b="b"/>
            <a:pathLst>
              <a:path w="352791" h="88198">
                <a:moveTo>
                  <a:pt x="0" y="0"/>
                </a:moveTo>
                <a:lnTo>
                  <a:pt x="352791" y="0"/>
                </a:lnTo>
                <a:lnTo>
                  <a:pt x="352791" y="88198"/>
                </a:lnTo>
                <a:lnTo>
                  <a:pt x="0" y="88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1D6E980-FD86-4C8F-8CE5-2AD5D552670D}"/>
              </a:ext>
            </a:extLst>
          </p:cNvPr>
          <p:cNvSpPr>
            <a:spLocks noGrp="1"/>
          </p:cNvSpPr>
          <p:nvPr/>
        </p:nvSpPr>
        <p:spPr>
          <a:xfrm>
            <a:off x="16906509" y="3689840"/>
            <a:ext cx="352791" cy="88198"/>
          </a:xfrm>
          <a:custGeom>
            <a:avLst/>
            <a:gdLst/>
            <a:ahLst/>
            <a:cxnLst/>
            <a:rect l="l" t="t" r="r" b="b"/>
            <a:pathLst>
              <a:path w="352791" h="88198">
                <a:moveTo>
                  <a:pt x="0" y="0"/>
                </a:moveTo>
                <a:lnTo>
                  <a:pt x="352791" y="0"/>
                </a:lnTo>
                <a:lnTo>
                  <a:pt x="352791" y="88198"/>
                </a:lnTo>
                <a:lnTo>
                  <a:pt x="0" y="881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A2BC2A8-90DF-4F2F-9F3B-B59E194E7932}"/>
              </a:ext>
            </a:extLst>
          </p:cNvPr>
          <p:cNvSpPr>
            <a:spLocks noGrp="1"/>
          </p:cNvSpPr>
          <p:nvPr/>
        </p:nvSpPr>
        <p:spPr>
          <a:xfrm rot="401570">
            <a:off x="1564379" y="4316097"/>
            <a:ext cx="3653490" cy="3352077"/>
          </a:xfrm>
          <a:custGeom>
            <a:avLst/>
            <a:gdLst/>
            <a:ahLst/>
            <a:cxnLst/>
            <a:rect l="l" t="t" r="r" b="b"/>
            <a:pathLst>
              <a:path w="3653490" h="3352077">
                <a:moveTo>
                  <a:pt x="0" y="0"/>
                </a:moveTo>
                <a:lnTo>
                  <a:pt x="3653490" y="0"/>
                </a:lnTo>
                <a:lnTo>
                  <a:pt x="3653490" y="3352077"/>
                </a:lnTo>
                <a:lnTo>
                  <a:pt x="0" y="3352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710711C-216D-45F3-9AC3-08206645E2F7}"/>
              </a:ext>
            </a:extLst>
          </p:cNvPr>
          <p:cNvSpPr>
            <a:spLocks noGrp="1"/>
          </p:cNvSpPr>
          <p:nvPr/>
        </p:nvSpPr>
        <p:spPr>
          <a:xfrm>
            <a:off x="15716250" y="4805361"/>
            <a:ext cx="1543050" cy="6302888"/>
          </a:xfrm>
          <a:custGeom>
            <a:avLst/>
            <a:gdLst/>
            <a:ahLst/>
            <a:cxnLst/>
            <a:rect l="l" t="t" r="r" b="b"/>
            <a:pathLst>
              <a:path w="406400" h="1660020">
                <a:moveTo>
                  <a:pt x="0" y="0"/>
                </a:moveTo>
                <a:lnTo>
                  <a:pt x="406400" y="0"/>
                </a:lnTo>
                <a:lnTo>
                  <a:pt x="406400" y="1660020"/>
                </a:lnTo>
                <a:lnTo>
                  <a:pt x="0" y="1660020"/>
                </a:lnTo>
                <a:close/>
              </a:path>
            </a:pathLst>
          </a:custGeom>
          <a:solidFill>
            <a:srgbClr val="2B2B2B"/>
          </a:solid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941BB24-7F90-4094-B8BA-2EDC54D75517}"/>
              </a:ext>
            </a:extLst>
          </p:cNvPr>
          <p:cNvSpPr>
            <a:spLocks noGrp="1"/>
          </p:cNvSpPr>
          <p:nvPr/>
        </p:nvSpPr>
        <p:spPr>
          <a:xfrm>
            <a:off x="15716250" y="4913856"/>
            <a:ext cx="1543050" cy="619439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1800"/>
              </a:lnSpc>
              <a:buNone/>
            </a:pPr>
            <a:endParaRPr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F253003-67FA-4CE0-99D3-DC1453A5A885}"/>
              </a:ext>
            </a:extLst>
          </p:cNvPr>
          <p:cNvSpPr>
            <a:spLocks noGrp="1"/>
          </p:cNvSpPr>
          <p:nvPr/>
        </p:nvSpPr>
        <p:spPr>
          <a:xfrm rot="1122201" flipH="1">
            <a:off x="13556640" y="4206300"/>
            <a:ext cx="3146477" cy="2886893"/>
          </a:xfrm>
          <a:custGeom>
            <a:avLst/>
            <a:gdLst/>
            <a:ahLst/>
            <a:cxnLst/>
            <a:rect l="l" t="t" r="r" b="b"/>
            <a:pathLst>
              <a:path w="3146477" h="2886893">
                <a:moveTo>
                  <a:pt x="3146477" y="0"/>
                </a:moveTo>
                <a:lnTo>
                  <a:pt x="0" y="0"/>
                </a:lnTo>
                <a:lnTo>
                  <a:pt x="0" y="2886892"/>
                </a:lnTo>
                <a:lnTo>
                  <a:pt x="3146477" y="2886892"/>
                </a:lnTo>
                <a:lnTo>
                  <a:pt x="3146477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74736A7-0B8A-47F8-801C-0E7ACDE3E5AB}"/>
              </a:ext>
            </a:extLst>
          </p:cNvPr>
          <p:cNvSpPr>
            <a:spLocks noGrp="1"/>
          </p:cNvSpPr>
          <p:nvPr/>
        </p:nvSpPr>
        <p:spPr>
          <a:xfrm flipV="1">
            <a:off x="1028700" y="1028700"/>
            <a:ext cx="252007" cy="195649"/>
          </a:xfrm>
          <a:custGeom>
            <a:avLst/>
            <a:gdLst/>
            <a:ahLst/>
            <a:cxnLst/>
            <a:rect l="l" t="t" r="r" b="b"/>
            <a:pathLst>
              <a:path w="252007" h="195649">
                <a:moveTo>
                  <a:pt x="0" y="195649"/>
                </a:moveTo>
                <a:lnTo>
                  <a:pt x="252007" y="195649"/>
                </a:lnTo>
                <a:lnTo>
                  <a:pt x="252007" y="0"/>
                </a:lnTo>
                <a:lnTo>
                  <a:pt x="0" y="0"/>
                </a:lnTo>
                <a:lnTo>
                  <a:pt x="0" y="1956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FD0AB7F-F0F4-4F8F-8D53-DF9F165F6A91}"/>
              </a:ext>
            </a:extLst>
          </p:cNvPr>
          <p:cNvSpPr>
            <a:spLocks noGrp="1"/>
          </p:cNvSpPr>
          <p:nvPr/>
        </p:nvSpPr>
        <p:spPr>
          <a:xfrm>
            <a:off x="8176010" y="974761"/>
            <a:ext cx="1935981" cy="41782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009"/>
              </a:lnSpc>
              <a:buNone/>
            </a:pPr>
            <a:r>
              <a:rPr sz="3499" b="1" spc="-104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GROUP 8</a:t>
            </a: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1EF63A15-05B6-4FE4-895B-6D780DE9A25D}"/>
              </a:ext>
            </a:extLst>
          </p:cNvPr>
          <p:cNvSpPr>
            <a:spLocks noGrp="1"/>
          </p:cNvSpPr>
          <p:nvPr/>
        </p:nvSpPr>
        <p:spPr>
          <a:xfrm flipH="1" flipV="1">
            <a:off x="17007293" y="1028700"/>
            <a:ext cx="252007" cy="195649"/>
          </a:xfrm>
          <a:custGeom>
            <a:avLst/>
            <a:gdLst/>
            <a:ahLst/>
            <a:cxnLst/>
            <a:rect l="l" t="t" r="r" b="b"/>
            <a:pathLst>
              <a:path w="252007" h="195649">
                <a:moveTo>
                  <a:pt x="252007" y="195649"/>
                </a:moveTo>
                <a:lnTo>
                  <a:pt x="0" y="195649"/>
                </a:lnTo>
                <a:lnTo>
                  <a:pt x="0" y="0"/>
                </a:lnTo>
                <a:lnTo>
                  <a:pt x="252007" y="0"/>
                </a:lnTo>
                <a:lnTo>
                  <a:pt x="252007" y="19564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DBBA8EE0-17C8-4D53-AC7B-21BE677D4103}"/>
              </a:ext>
            </a:extLst>
          </p:cNvPr>
          <p:cNvSpPr>
            <a:spLocks noGrp="1"/>
          </p:cNvSpPr>
          <p:nvPr/>
        </p:nvSpPr>
        <p:spPr>
          <a:xfrm rot="-5621586">
            <a:off x="7082157" y="4553029"/>
            <a:ext cx="4567314" cy="5112665"/>
          </a:xfrm>
          <a:custGeom>
            <a:avLst/>
            <a:gdLst/>
            <a:ahLst/>
            <a:cxnLst/>
            <a:rect l="l" t="t" r="r" b="b"/>
            <a:pathLst>
              <a:path w="4567314" h="5112665">
                <a:moveTo>
                  <a:pt x="0" y="0"/>
                </a:moveTo>
                <a:lnTo>
                  <a:pt x="4567314" y="0"/>
                </a:lnTo>
                <a:lnTo>
                  <a:pt x="4567314" y="5112665"/>
                </a:lnTo>
                <a:lnTo>
                  <a:pt x="0" y="51126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03157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CCF676E-F375-42C3-BA1C-535A496E01A1}"/>
              </a:ext>
            </a:extLst>
          </p:cNvPr>
          <p:cNvSpPr>
            <a:spLocks noGrp="1"/>
          </p:cNvSpPr>
          <p:nvPr/>
        </p:nvSpPr>
        <p:spPr>
          <a:xfrm>
            <a:off x="10146934" y="1081063"/>
            <a:ext cx="7668596" cy="9205937"/>
          </a:xfrm>
          <a:custGeom>
            <a:avLst/>
            <a:gdLst/>
            <a:ahLst/>
            <a:cxnLst/>
            <a:rect l="l" t="t" r="r" b="b"/>
            <a:pathLst>
              <a:path w="852633" h="1023562">
                <a:moveTo>
                  <a:pt x="0" y="0"/>
                </a:moveTo>
                <a:lnTo>
                  <a:pt x="852633" y="0"/>
                </a:lnTo>
                <a:lnTo>
                  <a:pt x="852633" y="1023562"/>
                </a:lnTo>
                <a:lnTo>
                  <a:pt x="0" y="1023562"/>
                </a:lnTo>
                <a:close/>
              </a:path>
            </a:pathLst>
          </a:custGeom>
          <a:blipFill>
            <a:blip r:embed="rId3"/>
            <a:stretch>
              <a:fillRect l="-15832" r="-15832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D308645-E45A-49FC-91EB-FF3323EF6EC5}"/>
              </a:ext>
            </a:extLst>
          </p:cNvPr>
          <p:cNvSpPr>
            <a:spLocks noGrp="1"/>
          </p:cNvSpPr>
          <p:nvPr/>
        </p:nvSpPr>
        <p:spPr>
          <a:xfrm>
            <a:off x="1140640" y="2425773"/>
            <a:ext cx="7931346" cy="6445635"/>
          </a:xfrm>
          <a:custGeom>
            <a:avLst/>
            <a:gdLst/>
            <a:ahLst/>
            <a:cxnLst/>
            <a:rect l="l" t="t" r="r" b="b"/>
            <a:pathLst>
              <a:path w="2088914" h="1697616">
                <a:moveTo>
                  <a:pt x="20498" y="0"/>
                </a:moveTo>
                <a:lnTo>
                  <a:pt x="2068416" y="0"/>
                </a:lnTo>
                <a:cubicBezTo>
                  <a:pt x="2079737" y="0"/>
                  <a:pt x="2088914" y="9177"/>
                  <a:pt x="2088914" y="20498"/>
                </a:cubicBezTo>
                <a:lnTo>
                  <a:pt x="2088914" y="1677118"/>
                </a:lnTo>
                <a:cubicBezTo>
                  <a:pt x="2088914" y="1682554"/>
                  <a:pt x="2086755" y="1687768"/>
                  <a:pt x="2082910" y="1691612"/>
                </a:cubicBezTo>
                <a:cubicBezTo>
                  <a:pt x="2079066" y="1695456"/>
                  <a:pt x="2073852" y="1697616"/>
                  <a:pt x="2068416" y="1697616"/>
                </a:cubicBezTo>
                <a:lnTo>
                  <a:pt x="20498" y="1697616"/>
                </a:lnTo>
                <a:cubicBezTo>
                  <a:pt x="15062" y="1697616"/>
                  <a:pt x="9848" y="1695456"/>
                  <a:pt x="6004" y="1691612"/>
                </a:cubicBezTo>
                <a:cubicBezTo>
                  <a:pt x="2160" y="1687768"/>
                  <a:pt x="0" y="1682554"/>
                  <a:pt x="0" y="1677118"/>
                </a:cubicBezTo>
                <a:lnTo>
                  <a:pt x="0" y="20498"/>
                </a:lnTo>
                <a:cubicBezTo>
                  <a:pt x="0" y="15062"/>
                  <a:pt x="2160" y="9848"/>
                  <a:pt x="6004" y="6004"/>
                </a:cubicBezTo>
                <a:cubicBezTo>
                  <a:pt x="9848" y="2160"/>
                  <a:pt x="15062" y="0"/>
                  <a:pt x="20498" y="0"/>
                </a:cubicBezTo>
                <a:close/>
              </a:path>
            </a:pathLst>
          </a:custGeom>
          <a:ln w="38100">
            <a:solidFill>
              <a:srgbClr val="3B5CAB"/>
            </a:solidFill>
            <a:prstDash val="dash"/>
          </a:ln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554FEB-5704-4CAE-9D8C-AB39178F028E}"/>
              </a:ext>
            </a:extLst>
          </p:cNvPr>
          <p:cNvSpPr>
            <a:spLocks noGrp="1"/>
          </p:cNvSpPr>
          <p:nvPr/>
        </p:nvSpPr>
        <p:spPr>
          <a:xfrm>
            <a:off x="1140640" y="2281113"/>
            <a:ext cx="7931346" cy="659029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lvl="0" indent="0" algn="ctr">
              <a:lnSpc>
                <a:spcPts val="2659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D15589B-531B-4645-A52B-1EEAD6EB60D2}"/>
              </a:ext>
            </a:extLst>
          </p:cNvPr>
          <p:cNvSpPr>
            <a:spLocks noGrp="1"/>
          </p:cNvSpPr>
          <p:nvPr/>
        </p:nvSpPr>
        <p:spPr>
          <a:xfrm>
            <a:off x="120108" y="1067491"/>
            <a:ext cx="10026826" cy="13572"/>
          </a:xfrm>
          <a:custGeom>
            <a:avLst/>
            <a:gdLst/>
            <a:ahLst/>
            <a:cxnLst/>
            <a:rect l="l" t="t" r="r" b="b"/>
            <a:pathLst>
              <a:path w="10789920" h="14605">
                <a:moveTo>
                  <a:pt x="0" y="0"/>
                </a:moveTo>
                <a:lnTo>
                  <a:pt x="10789920" y="0"/>
                </a:lnTo>
                <a:lnTo>
                  <a:pt x="1078992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141414"/>
          </a:solid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02F6573-3A7B-43DE-9EA1-B815FCEE220E}"/>
              </a:ext>
            </a:extLst>
          </p:cNvPr>
          <p:cNvSpPr>
            <a:spLocks noGrp="1"/>
          </p:cNvSpPr>
          <p:nvPr/>
        </p:nvSpPr>
        <p:spPr>
          <a:xfrm>
            <a:off x="1462738" y="2582140"/>
            <a:ext cx="6091498" cy="510997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18160" lvl="1" indent="-259080" algn="l">
              <a:lnSpc>
                <a:spcPts val="3744"/>
              </a:lnSpc>
              <a:buFont typeface="Arial"/>
              <a:buChar char="•"/>
            </a:pPr>
            <a:endParaRPr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70F3AC7-A315-448C-9376-9C5886534E19}"/>
              </a:ext>
            </a:extLst>
          </p:cNvPr>
          <p:cNvSpPr>
            <a:spLocks noGrp="1"/>
          </p:cNvSpPr>
          <p:nvPr/>
        </p:nvSpPr>
        <p:spPr>
          <a:xfrm>
            <a:off x="-3382974" y="191191"/>
            <a:ext cx="11595521" cy="8763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r">
              <a:lnSpc>
                <a:spcPts val="5400"/>
              </a:lnSpc>
              <a:buNone/>
            </a:pPr>
            <a:endParaRPr/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55836270-A198-4939-83B8-1A03C0F4C3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8E8E8"/>
          </a:solidFill>
          <a:ln w="0">
            <a:noFill/>
            <a:prstDash val="solid"/>
          </a:ln>
        </p:spPr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AF397839-69A6-478E-B831-E1AEEEDE01FE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377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METHODOLOGY PIPELINE</a:t>
            </a:r>
          </a:p>
        </p:txBody>
      </p:sp>
      <p:sp>
        <p:nvSpPr>
          <p:cNvPr id="13" name="Đường nối Thẳng 12">
            <a:extLst>
              <a:ext uri="{FF2B5EF4-FFF2-40B4-BE49-F238E27FC236}">
                <a16:creationId xmlns:a16="http://schemas.microsoft.com/office/drawing/2014/main" id="{EFA705C5-F8A9-4CB3-B851-2E66B70E7EF9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66687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3D577379-16C7-4D7B-962E-71CD342CF31F}"/>
              </a:ext>
            </a:extLst>
          </p:cNvPr>
          <p:cNvSpPr>
            <a:spLocks noGrp="1"/>
          </p:cNvSpPr>
          <p:nvPr/>
        </p:nvSpPr>
        <p:spPr>
          <a:xfrm>
            <a:off x="1238250" y="2419350"/>
            <a:ext cx="8191500" cy="6953250"/>
          </a:xfrm>
          <a:prstGeom prst="rect">
            <a:avLst/>
          </a:prstGeom>
          <a:noFill/>
          <a:ln w="28575">
            <a:solidFill>
              <a:srgbClr val="3B5CAB"/>
            </a:solidFill>
            <a:prstDash val="dash"/>
          </a:ln>
        </p:spPr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7524B40E-7474-4CA2-8047-23849C64C06D}"/>
              </a:ext>
            </a:extLst>
          </p:cNvPr>
          <p:cNvSpPr>
            <a:spLocks noGrp="1"/>
          </p:cNvSpPr>
          <p:nvPr/>
        </p:nvSpPr>
        <p:spPr>
          <a:xfrm>
            <a:off x="1714500" y="2714625"/>
            <a:ext cx="710565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defRPr>
            </a:pPr>
            <a:r>
              <a: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rPr>
              <a:t>• MovieLens: 100,836 ratings from 610 users and 9,742 movies.</a:t>
            </a:r>
          </a:p>
        </p:txBody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E898AAAE-FEC3-45AF-B74A-2BB6FB205E76}"/>
              </a:ext>
            </a:extLst>
          </p:cNvPr>
          <p:cNvSpPr>
            <a:spLocks noGrp="1"/>
          </p:cNvSpPr>
          <p:nvPr/>
        </p:nvSpPr>
        <p:spPr>
          <a:xfrm>
            <a:off x="1714500" y="4181475"/>
            <a:ext cx="710565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defRPr>
            </a:pPr>
            <a:r>
              <a: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rPr>
              <a:t>• EDA describes rating values, user activity and the genre mix.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C98F1197-F7BE-4075-939C-8763247C50D0}"/>
              </a:ext>
            </a:extLst>
          </p:cNvPr>
          <p:cNvSpPr>
            <a:spLocks noGrp="1"/>
          </p:cNvSpPr>
          <p:nvPr/>
        </p:nvSpPr>
        <p:spPr>
          <a:xfrm>
            <a:off x="1714500" y="5648325"/>
            <a:ext cx="710565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defRPr>
            </a:pPr>
            <a:r>
              <a: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rPr>
              <a:t>• Centered User–Genre features capture taste relative to each user’s mean.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033A2DE2-3B4C-4BDE-A19B-ADB75150D536}"/>
              </a:ext>
            </a:extLst>
          </p:cNvPr>
          <p:cNvSpPr>
            <a:spLocks noGrp="1"/>
          </p:cNvSpPr>
          <p:nvPr/>
        </p:nvSpPr>
        <p:spPr>
          <a:xfrm>
            <a:off x="1714500" y="7115175"/>
            <a:ext cx="7105650" cy="1352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defRPr>
            </a:pPr>
            <a:r>
              <a:rPr sz="2175" b="1">
                <a:solidFill>
                  <a:srgbClr val="242424"/>
                </a:solidFill>
                <a:latin typeface="Fira Code Bold"/>
                <a:ea typeface="Fira Code Bold"/>
                <a:cs typeface="Fira Code Bold"/>
              </a:rPr>
              <a:t>• The report selects K = 5; recommendations use users in the same cluster.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FFFDD567-4EE1-4D1C-AFA4-87D1964E7714}"/>
              </a:ext>
            </a:extLst>
          </p:cNvPr>
          <p:cNvSpPr>
            <a:spLocks noGrp="1"/>
          </p:cNvSpPr>
          <p:nvPr/>
        </p:nvSpPr>
        <p:spPr>
          <a:xfrm>
            <a:off x="10144125" y="1076325"/>
            <a:ext cx="7667625" cy="921067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0" name="pipeline-step-1">
            <a:extLst>
              <a:ext uri="{FF2B5EF4-FFF2-40B4-BE49-F238E27FC236}">
                <a16:creationId xmlns:a16="http://schemas.microsoft.com/office/drawing/2014/main" id="{236A81C2-F93A-4387-BC72-CF3DFF4F5B06}"/>
              </a:ext>
            </a:extLst>
          </p:cNvPr>
          <p:cNvSpPr>
            <a:spLocks noGrp="1"/>
          </p:cNvSpPr>
          <p:nvPr/>
        </p:nvSpPr>
        <p:spPr>
          <a:xfrm>
            <a:off x="10715625" y="1619250"/>
            <a:ext cx="6667500" cy="847725"/>
          </a:xfrm>
          <a:prstGeom prst="rect">
            <a:avLst/>
          </a:prstGeom>
          <a:solidFill>
            <a:srgbClr val="2F397C"/>
          </a:solidFill>
          <a:ln w="11430">
            <a:solidFill>
              <a:srgbClr val="838ECC"/>
            </a:solidFill>
            <a:prstDash val="solid"/>
          </a:ln>
        </p:spPr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D0EA826F-D226-45F6-ADCA-B8A151353DA6}"/>
              </a:ext>
            </a:extLst>
          </p:cNvPr>
          <p:cNvSpPr>
            <a:spLocks noGrp="1"/>
          </p:cNvSpPr>
          <p:nvPr/>
        </p:nvSpPr>
        <p:spPr>
          <a:xfrm>
            <a:off x="10848975" y="1714500"/>
            <a:ext cx="6400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20"/>
          </a:bodyPr>
          <a:lstStyle/>
          <a:p>
            <a:pPr algn="ctr">
              <a:def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EDA</a:t>
            </a:r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15E95983-190E-4055-8489-28DD6FD793D3}"/>
              </a:ext>
            </a:extLst>
          </p:cNvPr>
          <p:cNvSpPr>
            <a:spLocks noGrp="1"/>
          </p:cNvSpPr>
          <p:nvPr/>
        </p:nvSpPr>
        <p:spPr>
          <a:xfrm>
            <a:off x="10848975" y="2095500"/>
            <a:ext cx="6400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 lnSpcReduction="10000"/>
          </a:bodyPr>
          <a:lstStyle/>
          <a:p>
            <a:pPr algn="ctr">
              <a:def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defRPr>
            </a:pPr>
            <a:r>
              <a: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ratings · user activity · genres</a:t>
            </a:r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ED0B0131-68B9-478D-92D1-1C2D2733FC61}"/>
              </a:ext>
            </a:extLst>
          </p:cNvPr>
          <p:cNvSpPr>
            <a:spLocks noGrp="1"/>
          </p:cNvSpPr>
          <p:nvPr/>
        </p:nvSpPr>
        <p:spPr>
          <a:xfrm>
            <a:off x="13811250" y="2466975"/>
            <a:ext cx="571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742" lnSpcReduction="10000"/>
          </a:bodyPr>
          <a:lstStyle/>
          <a:p>
            <a:pPr algn="ctr">
              <a:def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defRPr>
            </a:pPr>
            <a:r>
              <a: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↓</a:t>
            </a:r>
          </a:p>
        </p:txBody>
      </p:sp>
      <p:sp>
        <p:nvSpPr>
          <p:cNvPr id="24" name="pipeline-step-2">
            <a:extLst>
              <a:ext uri="{FF2B5EF4-FFF2-40B4-BE49-F238E27FC236}">
                <a16:creationId xmlns:a16="http://schemas.microsoft.com/office/drawing/2014/main" id="{999D021D-8714-4F95-9D2E-0EB11ADABD9B}"/>
              </a:ext>
            </a:extLst>
          </p:cNvPr>
          <p:cNvSpPr>
            <a:spLocks noGrp="1"/>
          </p:cNvSpPr>
          <p:nvPr/>
        </p:nvSpPr>
        <p:spPr>
          <a:xfrm>
            <a:off x="10715625" y="2847975"/>
            <a:ext cx="6667500" cy="847725"/>
          </a:xfrm>
          <a:prstGeom prst="rect">
            <a:avLst/>
          </a:prstGeom>
          <a:solidFill>
            <a:srgbClr val="2F397C"/>
          </a:solidFill>
          <a:ln w="11430">
            <a:solidFill>
              <a:srgbClr val="838ECC"/>
            </a:solidFill>
            <a:prstDash val="solid"/>
          </a:ln>
        </p:spPr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4F986E40-839A-41F6-BDE2-F84D29447528}"/>
              </a:ext>
            </a:extLst>
          </p:cNvPr>
          <p:cNvSpPr>
            <a:spLocks noGrp="1"/>
          </p:cNvSpPr>
          <p:nvPr/>
        </p:nvSpPr>
        <p:spPr>
          <a:xfrm>
            <a:off x="10848975" y="2943225"/>
            <a:ext cx="6400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20"/>
          </a:bodyPr>
          <a:lstStyle/>
          <a:p>
            <a:pPr algn="ctr">
              <a:def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Feature engineering</a:t>
            </a: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7279A403-8521-4DD9-93DA-F86FBA5B684B}"/>
              </a:ext>
            </a:extLst>
          </p:cNvPr>
          <p:cNvSpPr>
            <a:spLocks noGrp="1"/>
          </p:cNvSpPr>
          <p:nvPr/>
        </p:nvSpPr>
        <p:spPr>
          <a:xfrm>
            <a:off x="10848975" y="3324225"/>
            <a:ext cx="6400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 lnSpcReduction="10000"/>
          </a:bodyPr>
          <a:lstStyle/>
          <a:p>
            <a:pPr algn="ctr">
              <a:def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defRPr>
            </a:pPr>
            <a:r>
              <a: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one-hot genre flags + rating join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45D39B7B-E1D2-4BCE-8660-9AF4642DFB15}"/>
              </a:ext>
            </a:extLst>
          </p:cNvPr>
          <p:cNvSpPr>
            <a:spLocks noGrp="1"/>
          </p:cNvSpPr>
          <p:nvPr/>
        </p:nvSpPr>
        <p:spPr>
          <a:xfrm>
            <a:off x="13811250" y="3695700"/>
            <a:ext cx="571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742" lnSpcReduction="10000"/>
          </a:bodyPr>
          <a:lstStyle/>
          <a:p>
            <a:pPr algn="ctr">
              <a:def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defRPr>
            </a:pPr>
            <a:r>
              <a: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↓</a:t>
            </a:r>
          </a:p>
        </p:txBody>
      </p:sp>
      <p:sp>
        <p:nvSpPr>
          <p:cNvPr id="28" name="pipeline-step-3">
            <a:extLst>
              <a:ext uri="{FF2B5EF4-FFF2-40B4-BE49-F238E27FC236}">
                <a16:creationId xmlns:a16="http://schemas.microsoft.com/office/drawing/2014/main" id="{FF9CBF5A-15C2-4496-8E23-C4D82759F688}"/>
              </a:ext>
            </a:extLst>
          </p:cNvPr>
          <p:cNvSpPr>
            <a:spLocks noGrp="1"/>
          </p:cNvSpPr>
          <p:nvPr/>
        </p:nvSpPr>
        <p:spPr>
          <a:xfrm>
            <a:off x="10715625" y="4076700"/>
            <a:ext cx="6667500" cy="847725"/>
          </a:xfrm>
          <a:prstGeom prst="rect">
            <a:avLst/>
          </a:prstGeom>
          <a:solidFill>
            <a:srgbClr val="2F397C"/>
          </a:solidFill>
          <a:ln w="11430">
            <a:solidFill>
              <a:srgbClr val="838ECC"/>
            </a:solidFill>
            <a:prstDash val="solid"/>
          </a:ln>
        </p:spPr>
      </p:sp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5EBCC6C4-CCE5-46E6-A30D-CA9ECF79E9D8}"/>
              </a:ext>
            </a:extLst>
          </p:cNvPr>
          <p:cNvSpPr>
            <a:spLocks noGrp="1"/>
          </p:cNvSpPr>
          <p:nvPr/>
        </p:nvSpPr>
        <p:spPr>
          <a:xfrm>
            <a:off x="10848975" y="4171950"/>
            <a:ext cx="6400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20"/>
          </a:bodyPr>
          <a:lstStyle/>
          <a:p>
            <a:pPr algn="ctr">
              <a:def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Centered User–Genre</a:t>
            </a:r>
          </a:p>
        </p:txBody>
      </p:sp>
      <p:sp>
        <p:nvSpPr>
          <p:cNvPr id="30" name="Hình chữ nhật 29">
            <a:extLst>
              <a:ext uri="{FF2B5EF4-FFF2-40B4-BE49-F238E27FC236}">
                <a16:creationId xmlns:a16="http://schemas.microsoft.com/office/drawing/2014/main" id="{311548F2-A322-40B9-BA37-75BB606D6CA1}"/>
              </a:ext>
            </a:extLst>
          </p:cNvPr>
          <p:cNvSpPr>
            <a:spLocks noGrp="1"/>
          </p:cNvSpPr>
          <p:nvPr/>
        </p:nvSpPr>
        <p:spPr>
          <a:xfrm>
            <a:off x="10848975" y="4552950"/>
            <a:ext cx="6400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 lnSpcReduction="10000"/>
          </a:bodyPr>
          <a:lstStyle/>
          <a:p>
            <a:pPr algn="ctr">
              <a:def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defRPr>
            </a:pPr>
            <a:r>
              <a: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610 users × 19 preference features</a:t>
            </a:r>
          </a:p>
        </p:txBody>
      </p:sp>
      <p:sp>
        <p:nvSpPr>
          <p:cNvPr id="31" name="Hình chữ nhật 30">
            <a:extLst>
              <a:ext uri="{FF2B5EF4-FFF2-40B4-BE49-F238E27FC236}">
                <a16:creationId xmlns:a16="http://schemas.microsoft.com/office/drawing/2014/main" id="{1B330F4F-595D-4604-806A-1898503620A0}"/>
              </a:ext>
            </a:extLst>
          </p:cNvPr>
          <p:cNvSpPr>
            <a:spLocks noGrp="1"/>
          </p:cNvSpPr>
          <p:nvPr/>
        </p:nvSpPr>
        <p:spPr>
          <a:xfrm>
            <a:off x="13811250" y="4924425"/>
            <a:ext cx="571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742" lnSpcReduction="10000"/>
          </a:bodyPr>
          <a:lstStyle/>
          <a:p>
            <a:pPr algn="ctr">
              <a:def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defRPr>
            </a:pPr>
            <a:r>
              <a: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↓</a:t>
            </a:r>
          </a:p>
        </p:txBody>
      </p:sp>
      <p:sp>
        <p:nvSpPr>
          <p:cNvPr id="32" name="pipeline-step-4">
            <a:extLst>
              <a:ext uri="{FF2B5EF4-FFF2-40B4-BE49-F238E27FC236}">
                <a16:creationId xmlns:a16="http://schemas.microsoft.com/office/drawing/2014/main" id="{96B3F425-0982-4D36-BBB1-4B2620C4F24F}"/>
              </a:ext>
            </a:extLst>
          </p:cNvPr>
          <p:cNvSpPr>
            <a:spLocks noGrp="1"/>
          </p:cNvSpPr>
          <p:nvPr/>
        </p:nvSpPr>
        <p:spPr>
          <a:xfrm>
            <a:off x="10715625" y="5305425"/>
            <a:ext cx="6667500" cy="847725"/>
          </a:xfrm>
          <a:prstGeom prst="rect">
            <a:avLst/>
          </a:prstGeom>
          <a:solidFill>
            <a:srgbClr val="2F397C"/>
          </a:solidFill>
          <a:ln w="11430">
            <a:solidFill>
              <a:srgbClr val="838ECC"/>
            </a:solidFill>
            <a:prstDash val="solid"/>
          </a:ln>
        </p:spPr>
      </p:sp>
      <p:sp>
        <p:nvSpPr>
          <p:cNvPr id="33" name="Hình chữ nhật 32">
            <a:extLst>
              <a:ext uri="{FF2B5EF4-FFF2-40B4-BE49-F238E27FC236}">
                <a16:creationId xmlns:a16="http://schemas.microsoft.com/office/drawing/2014/main" id="{D0148592-79A5-4818-B9A5-174C8ECF228B}"/>
              </a:ext>
            </a:extLst>
          </p:cNvPr>
          <p:cNvSpPr>
            <a:spLocks noGrp="1"/>
          </p:cNvSpPr>
          <p:nvPr/>
        </p:nvSpPr>
        <p:spPr>
          <a:xfrm>
            <a:off x="10848975" y="5400675"/>
            <a:ext cx="6400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20"/>
          </a:bodyPr>
          <a:lstStyle/>
          <a:p>
            <a:pPr algn="ctr">
              <a:def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Scaling</a:t>
            </a:r>
          </a:p>
        </p:txBody>
      </p:sp>
      <p:sp>
        <p:nvSpPr>
          <p:cNvPr id="34" name="Hình chữ nhật 33">
            <a:extLst>
              <a:ext uri="{FF2B5EF4-FFF2-40B4-BE49-F238E27FC236}">
                <a16:creationId xmlns:a16="http://schemas.microsoft.com/office/drawing/2014/main" id="{B10082ED-D0DF-4F00-BEB2-0C1CC9A25C50}"/>
              </a:ext>
            </a:extLst>
          </p:cNvPr>
          <p:cNvSpPr>
            <a:spLocks noGrp="1"/>
          </p:cNvSpPr>
          <p:nvPr/>
        </p:nvSpPr>
        <p:spPr>
          <a:xfrm>
            <a:off x="10848975" y="5781675"/>
            <a:ext cx="6400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 lnSpcReduction="10000"/>
          </a:bodyPr>
          <a:lstStyle/>
          <a:p>
            <a:pPr algn="ctr">
              <a:def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defRPr>
            </a:pPr>
            <a:r>
              <a: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StandardScaler by genre</a:t>
            </a:r>
          </a:p>
        </p:txBody>
      </p:sp>
      <p:sp>
        <p:nvSpPr>
          <p:cNvPr id="35" name="Hình chữ nhật 34">
            <a:extLst>
              <a:ext uri="{FF2B5EF4-FFF2-40B4-BE49-F238E27FC236}">
                <a16:creationId xmlns:a16="http://schemas.microsoft.com/office/drawing/2014/main" id="{60E88883-E26D-47BF-9B33-4893708450C4}"/>
              </a:ext>
            </a:extLst>
          </p:cNvPr>
          <p:cNvSpPr>
            <a:spLocks noGrp="1"/>
          </p:cNvSpPr>
          <p:nvPr/>
        </p:nvSpPr>
        <p:spPr>
          <a:xfrm>
            <a:off x="13811250" y="6153150"/>
            <a:ext cx="571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742" lnSpcReduction="10000"/>
          </a:bodyPr>
          <a:lstStyle/>
          <a:p>
            <a:pPr algn="ctr">
              <a:def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defRPr>
            </a:pPr>
            <a:r>
              <a: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↓</a:t>
            </a:r>
          </a:p>
        </p:txBody>
      </p:sp>
      <p:sp>
        <p:nvSpPr>
          <p:cNvPr id="36" name="pipeline-step-5">
            <a:extLst>
              <a:ext uri="{FF2B5EF4-FFF2-40B4-BE49-F238E27FC236}">
                <a16:creationId xmlns:a16="http://schemas.microsoft.com/office/drawing/2014/main" id="{F723323A-7BBF-4BBE-9C90-167AC1188A4E}"/>
              </a:ext>
            </a:extLst>
          </p:cNvPr>
          <p:cNvSpPr>
            <a:spLocks noGrp="1"/>
          </p:cNvSpPr>
          <p:nvPr/>
        </p:nvSpPr>
        <p:spPr>
          <a:xfrm>
            <a:off x="10715625" y="6534150"/>
            <a:ext cx="6667500" cy="847725"/>
          </a:xfrm>
          <a:prstGeom prst="rect">
            <a:avLst/>
          </a:prstGeom>
          <a:solidFill>
            <a:srgbClr val="2F397C"/>
          </a:solidFill>
          <a:ln w="11430">
            <a:solidFill>
              <a:srgbClr val="838ECC"/>
            </a:solidFill>
            <a:prstDash val="solid"/>
          </a:ln>
        </p:spPr>
      </p:sp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ABB65827-1A70-432F-B64E-50184046FE38}"/>
              </a:ext>
            </a:extLst>
          </p:cNvPr>
          <p:cNvSpPr>
            <a:spLocks noGrp="1"/>
          </p:cNvSpPr>
          <p:nvPr/>
        </p:nvSpPr>
        <p:spPr>
          <a:xfrm>
            <a:off x="10848975" y="6629400"/>
            <a:ext cx="6400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20"/>
          </a:bodyPr>
          <a:lstStyle/>
          <a:p>
            <a:pPr algn="ctr">
              <a:def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K-Means</a:t>
            </a:r>
          </a:p>
        </p:txBody>
      </p:sp>
      <p:sp>
        <p:nvSpPr>
          <p:cNvPr id="38" name="Hình chữ nhật 37">
            <a:extLst>
              <a:ext uri="{FF2B5EF4-FFF2-40B4-BE49-F238E27FC236}">
                <a16:creationId xmlns:a16="http://schemas.microsoft.com/office/drawing/2014/main" id="{04B50788-C701-41C8-84F6-44C22A1A2E30}"/>
              </a:ext>
            </a:extLst>
          </p:cNvPr>
          <p:cNvSpPr>
            <a:spLocks noGrp="1"/>
          </p:cNvSpPr>
          <p:nvPr/>
        </p:nvSpPr>
        <p:spPr>
          <a:xfrm>
            <a:off x="10848975" y="7010400"/>
            <a:ext cx="6400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 lnSpcReduction="10000"/>
          </a:bodyPr>
          <a:lstStyle/>
          <a:p>
            <a:pPr algn="ctr">
              <a:def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defRPr>
            </a:pPr>
            <a:r>
              <a:rPr sz="1275" b="0" dirty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train candidate user clusters</a:t>
            </a:r>
          </a:p>
        </p:txBody>
      </p:sp>
      <p:sp>
        <p:nvSpPr>
          <p:cNvPr id="39" name="Hình chữ nhật 38">
            <a:extLst>
              <a:ext uri="{FF2B5EF4-FFF2-40B4-BE49-F238E27FC236}">
                <a16:creationId xmlns:a16="http://schemas.microsoft.com/office/drawing/2014/main" id="{756E7DF6-0CDA-454A-8773-FD22169D134D}"/>
              </a:ext>
            </a:extLst>
          </p:cNvPr>
          <p:cNvSpPr>
            <a:spLocks noGrp="1"/>
          </p:cNvSpPr>
          <p:nvPr/>
        </p:nvSpPr>
        <p:spPr>
          <a:xfrm>
            <a:off x="13811250" y="7381875"/>
            <a:ext cx="571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742" lnSpcReduction="10000"/>
          </a:bodyPr>
          <a:lstStyle/>
          <a:p>
            <a:pPr algn="ctr">
              <a:def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defRPr>
            </a:pPr>
            <a:r>
              <a: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↓</a:t>
            </a:r>
          </a:p>
        </p:txBody>
      </p:sp>
      <p:sp>
        <p:nvSpPr>
          <p:cNvPr id="40" name="pipeline-step-6">
            <a:extLst>
              <a:ext uri="{FF2B5EF4-FFF2-40B4-BE49-F238E27FC236}">
                <a16:creationId xmlns:a16="http://schemas.microsoft.com/office/drawing/2014/main" id="{788042F5-64F0-49BD-A8C1-F5EB651D26D2}"/>
              </a:ext>
            </a:extLst>
          </p:cNvPr>
          <p:cNvSpPr>
            <a:spLocks noGrp="1"/>
          </p:cNvSpPr>
          <p:nvPr/>
        </p:nvSpPr>
        <p:spPr>
          <a:xfrm>
            <a:off x="10715625" y="7762875"/>
            <a:ext cx="6667500" cy="847725"/>
          </a:xfrm>
          <a:prstGeom prst="rect">
            <a:avLst/>
          </a:prstGeom>
          <a:solidFill>
            <a:srgbClr val="2F397C"/>
          </a:solidFill>
          <a:ln w="11430">
            <a:solidFill>
              <a:srgbClr val="838ECC"/>
            </a:solidFill>
            <a:prstDash val="solid"/>
          </a:ln>
        </p:spPr>
      </p:sp>
      <p:sp>
        <p:nvSpPr>
          <p:cNvPr id="41" name="Hình chữ nhật 40">
            <a:extLst>
              <a:ext uri="{FF2B5EF4-FFF2-40B4-BE49-F238E27FC236}">
                <a16:creationId xmlns:a16="http://schemas.microsoft.com/office/drawing/2014/main" id="{344FFE68-F336-47DC-A321-25AEEC9D0191}"/>
              </a:ext>
            </a:extLst>
          </p:cNvPr>
          <p:cNvSpPr>
            <a:spLocks noGrp="1"/>
          </p:cNvSpPr>
          <p:nvPr/>
        </p:nvSpPr>
        <p:spPr>
          <a:xfrm>
            <a:off x="10848975" y="7858125"/>
            <a:ext cx="6400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20"/>
          </a:bodyPr>
          <a:lstStyle/>
          <a:p>
            <a:pPr algn="ctr">
              <a:def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K Selection</a:t>
            </a:r>
          </a:p>
        </p:txBody>
      </p:sp>
      <p:sp>
        <p:nvSpPr>
          <p:cNvPr id="42" name="Hình chữ nhật 41">
            <a:extLst>
              <a:ext uri="{FF2B5EF4-FFF2-40B4-BE49-F238E27FC236}">
                <a16:creationId xmlns:a16="http://schemas.microsoft.com/office/drawing/2014/main" id="{1AD0D0B0-0EDA-4D93-8027-FF10E7A479C9}"/>
              </a:ext>
            </a:extLst>
          </p:cNvPr>
          <p:cNvSpPr>
            <a:spLocks noGrp="1"/>
          </p:cNvSpPr>
          <p:nvPr/>
        </p:nvSpPr>
        <p:spPr>
          <a:xfrm>
            <a:off x="10848975" y="8239125"/>
            <a:ext cx="6400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2990" lnSpcReduction="20000"/>
          </a:bodyPr>
          <a:lstStyle/>
          <a:p>
            <a:pPr algn="ctr">
              <a:def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defRPr>
            </a:pPr>
            <a:r>
              <a:rPr lang="en-US" sz="1275" b="0" dirty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Choose </a:t>
            </a:r>
            <a:r>
              <a:rPr sz="1275" b="0" dirty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K = 5</a:t>
            </a:r>
          </a:p>
        </p:txBody>
      </p:sp>
      <p:sp>
        <p:nvSpPr>
          <p:cNvPr id="43" name="Hình chữ nhật 42">
            <a:extLst>
              <a:ext uri="{FF2B5EF4-FFF2-40B4-BE49-F238E27FC236}">
                <a16:creationId xmlns:a16="http://schemas.microsoft.com/office/drawing/2014/main" id="{D0207B8F-0671-46CF-81D6-2380C372766D}"/>
              </a:ext>
            </a:extLst>
          </p:cNvPr>
          <p:cNvSpPr>
            <a:spLocks noGrp="1"/>
          </p:cNvSpPr>
          <p:nvPr/>
        </p:nvSpPr>
        <p:spPr>
          <a:xfrm>
            <a:off x="13811250" y="8610600"/>
            <a:ext cx="571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1742" lnSpcReduction="10000"/>
          </a:bodyPr>
          <a:lstStyle/>
          <a:p>
            <a:pPr algn="ctr">
              <a:def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defRPr>
            </a:pPr>
            <a:r>
              <a:rPr sz="2475" b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↓</a:t>
            </a:r>
          </a:p>
        </p:txBody>
      </p:sp>
      <p:sp>
        <p:nvSpPr>
          <p:cNvPr id="44" name="pipeline-step-7">
            <a:extLst>
              <a:ext uri="{FF2B5EF4-FFF2-40B4-BE49-F238E27FC236}">
                <a16:creationId xmlns:a16="http://schemas.microsoft.com/office/drawing/2014/main" id="{51303E27-2010-446E-A23C-A87ED3A23831}"/>
              </a:ext>
            </a:extLst>
          </p:cNvPr>
          <p:cNvSpPr>
            <a:spLocks noGrp="1"/>
          </p:cNvSpPr>
          <p:nvPr/>
        </p:nvSpPr>
        <p:spPr>
          <a:xfrm>
            <a:off x="10715625" y="8991600"/>
            <a:ext cx="6667500" cy="847725"/>
          </a:xfrm>
          <a:prstGeom prst="rect">
            <a:avLst/>
          </a:prstGeom>
          <a:solidFill>
            <a:srgbClr val="6846C9"/>
          </a:solidFill>
          <a:ln w="11430">
            <a:solidFill>
              <a:srgbClr val="838ECC"/>
            </a:solidFill>
            <a:prstDash val="solid"/>
          </a:ln>
        </p:spPr>
      </p:sp>
      <p:sp>
        <p:nvSpPr>
          <p:cNvPr id="45" name="Hình chữ nhật 44">
            <a:extLst>
              <a:ext uri="{FF2B5EF4-FFF2-40B4-BE49-F238E27FC236}">
                <a16:creationId xmlns:a16="http://schemas.microsoft.com/office/drawing/2014/main" id="{884ABAED-9464-4745-8795-AA93AEE797F4}"/>
              </a:ext>
            </a:extLst>
          </p:cNvPr>
          <p:cNvSpPr>
            <a:spLocks noGrp="1"/>
          </p:cNvSpPr>
          <p:nvPr/>
        </p:nvSpPr>
        <p:spPr>
          <a:xfrm>
            <a:off x="10848975" y="9086850"/>
            <a:ext cx="64008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820"/>
          </a:bodyPr>
          <a:lstStyle/>
          <a:p>
            <a:pPr algn="ctr">
              <a:def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Recommendation</a:t>
            </a:r>
          </a:p>
        </p:txBody>
      </p:sp>
      <p:sp>
        <p:nvSpPr>
          <p:cNvPr id="46" name="Hình chữ nhật 45">
            <a:extLst>
              <a:ext uri="{FF2B5EF4-FFF2-40B4-BE49-F238E27FC236}">
                <a16:creationId xmlns:a16="http://schemas.microsoft.com/office/drawing/2014/main" id="{B7A74FDB-A5EE-4882-9F86-A49FAEEEAA68}"/>
              </a:ext>
            </a:extLst>
          </p:cNvPr>
          <p:cNvSpPr>
            <a:spLocks noGrp="1"/>
          </p:cNvSpPr>
          <p:nvPr/>
        </p:nvSpPr>
        <p:spPr>
          <a:xfrm>
            <a:off x="10848975" y="9467850"/>
            <a:ext cx="64008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490" lnSpcReduction="10000"/>
          </a:bodyPr>
          <a:lstStyle/>
          <a:p>
            <a:pPr algn="ctr">
              <a:def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defRPr>
            </a:pPr>
            <a:r>
              <a:rPr sz="1275" b="0">
                <a:solidFill>
                  <a:srgbClr val="EEEEFF"/>
                </a:solidFill>
                <a:latin typeface="Fira Code"/>
                <a:ea typeface="Fira Code"/>
                <a:cs typeface="Fira Code"/>
              </a:rPr>
              <a:t>same-cluster weighted ranking</a:t>
            </a:r>
          </a:p>
        </p:txBody>
      </p:sp>
    </p:spTree>
    <p:extLst>
      <p:ext uri="{BB962C8B-B14F-4D97-AF65-F5344CB8AC3E}">
        <p14:creationId xmlns:p14="http://schemas.microsoft.com/office/powerpoint/2010/main" val="672097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headline">
            <a:extLst>
              <a:ext uri="{FF2B5EF4-FFF2-40B4-BE49-F238E27FC236}">
                <a16:creationId xmlns:a16="http://schemas.microsoft.com/office/drawing/2014/main" id="{385B11D3-F137-4AB9-9C3C-82FC1ADF2E0D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 dirty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EDA: DATA </a:t>
            </a:r>
            <a:r>
              <a:rPr lang="en-US" sz="6900" dirty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OVERVIEW</a:t>
            </a:r>
            <a:endParaRPr sz="6900" b="0" dirty="0">
              <a:solidFill>
                <a:srgbClr val="242424"/>
              </a:solidFill>
              <a:latin typeface="RQND Pro Condensed"/>
              <a:ea typeface="RQND Pro Condensed"/>
              <a:cs typeface="RQND Pro Condensed"/>
            </a:endParaRP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19F91A10-640B-4F04-AA00-FD523E0A267B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7830B48-9348-4367-A68C-3951F8F9CD76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5484025-057E-4A09-9F6B-EC8435448166}"/>
              </a:ext>
            </a:extLst>
          </p:cNvPr>
          <p:cNvSpPr>
            <a:spLocks noGrp="1"/>
          </p:cNvSpPr>
          <p:nvPr/>
        </p:nvSpPr>
        <p:spPr>
          <a:xfrm>
            <a:off x="1047750" y="2667000"/>
            <a:ext cx="261937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225" b="0">
                <a:solidFill>
                  <a:srgbClr val="3B5CAB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225" b="0" dirty="0">
                <a:solidFill>
                  <a:srgbClr val="3B5CAB"/>
                </a:solidFill>
                <a:latin typeface="RQND Pro Condensed"/>
                <a:ea typeface="RQND Pro Condensed"/>
                <a:cs typeface="RQND Pro Condensed"/>
              </a:rPr>
              <a:t>100,836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B9F5FA89-A771-486C-BC4F-4E282EBC3825}"/>
              </a:ext>
            </a:extLst>
          </p:cNvPr>
          <p:cNvSpPr>
            <a:spLocks noGrp="1"/>
          </p:cNvSpPr>
          <p:nvPr/>
        </p:nvSpPr>
        <p:spPr>
          <a:xfrm>
            <a:off x="3905250" y="2752725"/>
            <a:ext cx="1276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550" b="1" dirty="0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RATINGS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68606313-67CA-45D7-BE0B-BB16FD624B17}"/>
              </a:ext>
            </a:extLst>
          </p:cNvPr>
          <p:cNvSpPr>
            <a:spLocks noGrp="1"/>
          </p:cNvSpPr>
          <p:nvPr/>
        </p:nvSpPr>
        <p:spPr>
          <a:xfrm>
            <a:off x="3914775" y="3333750"/>
            <a:ext cx="13049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610 users · 9,742 movies</a:t>
            </a:r>
          </a:p>
        </p:txBody>
      </p:sp>
      <p:sp>
        <p:nvSpPr>
          <p:cNvPr id="7" name="Đường nối Thẳng 6">
            <a:extLst>
              <a:ext uri="{FF2B5EF4-FFF2-40B4-BE49-F238E27FC236}">
                <a16:creationId xmlns:a16="http://schemas.microsoft.com/office/drawing/2014/main" id="{BB5F28DA-FBA5-46CC-BD4A-C9B3FD6247CD}"/>
              </a:ext>
            </a:extLst>
          </p:cNvPr>
          <p:cNvSpPr>
            <a:spLocks noGrp="1"/>
          </p:cNvSpPr>
          <p:nvPr/>
        </p:nvSpPr>
        <p:spPr>
          <a:xfrm>
            <a:off x="1000125" y="401002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011613CF-5CAE-4F07-9BCB-CAF140FDF591}"/>
              </a:ext>
            </a:extLst>
          </p:cNvPr>
          <p:cNvSpPr>
            <a:spLocks noGrp="1"/>
          </p:cNvSpPr>
          <p:nvPr/>
        </p:nvSpPr>
        <p:spPr>
          <a:xfrm>
            <a:off x="1047750" y="4238625"/>
            <a:ext cx="261937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225" b="0">
                <a:solidFill>
                  <a:srgbClr val="3B5CAB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225" b="0">
                <a:solidFill>
                  <a:srgbClr val="3B5CAB"/>
                </a:solidFill>
                <a:latin typeface="RQND Pro Condensed"/>
                <a:ea typeface="RQND Pro Condensed"/>
                <a:cs typeface="RQND Pro Condensed"/>
              </a:rPr>
              <a:t>0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E8BBD912-A56C-472F-A0E7-232D20E9D147}"/>
              </a:ext>
            </a:extLst>
          </p:cNvPr>
          <p:cNvSpPr>
            <a:spLocks noGrp="1"/>
          </p:cNvSpPr>
          <p:nvPr/>
        </p:nvSpPr>
        <p:spPr>
          <a:xfrm>
            <a:off x="3905250" y="4324350"/>
            <a:ext cx="1276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550" b="1" dirty="0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MISSING VALUES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669C778A-1345-4109-AB28-4882FBFD8A4F}"/>
              </a:ext>
            </a:extLst>
          </p:cNvPr>
          <p:cNvSpPr>
            <a:spLocks noGrp="1"/>
          </p:cNvSpPr>
          <p:nvPr/>
        </p:nvSpPr>
        <p:spPr>
          <a:xfrm>
            <a:off x="3914775" y="4905375"/>
            <a:ext cx="13049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movies.csv and ratings.csv</a:t>
            </a:r>
          </a:p>
        </p:txBody>
      </p:sp>
      <p:sp>
        <p:nvSpPr>
          <p:cNvPr id="11" name="Đường nối Thẳng 10">
            <a:extLst>
              <a:ext uri="{FF2B5EF4-FFF2-40B4-BE49-F238E27FC236}">
                <a16:creationId xmlns:a16="http://schemas.microsoft.com/office/drawing/2014/main" id="{C3E64088-7FA2-4B9C-95EE-FC013C98D44A}"/>
              </a:ext>
            </a:extLst>
          </p:cNvPr>
          <p:cNvSpPr>
            <a:spLocks noGrp="1"/>
          </p:cNvSpPr>
          <p:nvPr/>
        </p:nvSpPr>
        <p:spPr>
          <a:xfrm>
            <a:off x="1000125" y="5581650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4968354B-2BC8-4610-98F6-19A5AD694C6A}"/>
              </a:ext>
            </a:extLst>
          </p:cNvPr>
          <p:cNvSpPr>
            <a:spLocks noGrp="1"/>
          </p:cNvSpPr>
          <p:nvPr/>
        </p:nvSpPr>
        <p:spPr>
          <a:xfrm>
            <a:off x="1047750" y="5810250"/>
            <a:ext cx="261937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225" b="0">
                <a:solidFill>
                  <a:srgbClr val="3B5CAB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225" b="0">
                <a:solidFill>
                  <a:srgbClr val="3B5CAB"/>
                </a:solidFill>
                <a:latin typeface="RQND Pro Condensed"/>
                <a:ea typeface="RQND Pro Condensed"/>
                <a:cs typeface="RQND Pro Condensed"/>
              </a:rPr>
              <a:t>0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4889D228-A66C-48C4-9F45-C4A9ACA56941}"/>
              </a:ext>
            </a:extLst>
          </p:cNvPr>
          <p:cNvSpPr>
            <a:spLocks noGrp="1"/>
          </p:cNvSpPr>
          <p:nvPr/>
        </p:nvSpPr>
        <p:spPr>
          <a:xfrm>
            <a:off x="3905250" y="5895975"/>
            <a:ext cx="1276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5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UNMATCHED MOVIE IDS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24E2A623-C953-42A4-A166-089B1A62EEBB}"/>
              </a:ext>
            </a:extLst>
          </p:cNvPr>
          <p:cNvSpPr>
            <a:spLocks noGrp="1"/>
          </p:cNvSpPr>
          <p:nvPr/>
        </p:nvSpPr>
        <p:spPr>
          <a:xfrm>
            <a:off x="3914775" y="6477000"/>
            <a:ext cx="13049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every rating joins to a movie</a:t>
            </a:r>
          </a:p>
        </p:txBody>
      </p:sp>
      <p:sp>
        <p:nvSpPr>
          <p:cNvPr id="15" name="Đường nối Thẳng 14">
            <a:extLst>
              <a:ext uri="{FF2B5EF4-FFF2-40B4-BE49-F238E27FC236}">
                <a16:creationId xmlns:a16="http://schemas.microsoft.com/office/drawing/2014/main" id="{EB8F3F1C-65BF-447B-9783-7AD9FBCCD517}"/>
              </a:ext>
            </a:extLst>
          </p:cNvPr>
          <p:cNvSpPr>
            <a:spLocks noGrp="1"/>
          </p:cNvSpPr>
          <p:nvPr/>
        </p:nvSpPr>
        <p:spPr>
          <a:xfrm>
            <a:off x="1000125" y="715327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4E5971CD-90EE-4653-8749-8FEB2A382B66}"/>
              </a:ext>
            </a:extLst>
          </p:cNvPr>
          <p:cNvSpPr>
            <a:spLocks noGrp="1"/>
          </p:cNvSpPr>
          <p:nvPr/>
        </p:nvSpPr>
        <p:spPr>
          <a:xfrm>
            <a:off x="1047750" y="7381875"/>
            <a:ext cx="2619375" cy="11049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2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2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34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D17F2D41-5E72-41E8-8C96-72B6ECD0877B}"/>
              </a:ext>
            </a:extLst>
          </p:cNvPr>
          <p:cNvSpPr>
            <a:spLocks noGrp="1"/>
          </p:cNvSpPr>
          <p:nvPr/>
        </p:nvSpPr>
        <p:spPr>
          <a:xfrm>
            <a:off x="3905250" y="7467600"/>
            <a:ext cx="1276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5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MOVIES WITHOUT A GENRE LABEL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6ACC4CE6-CA82-4257-A500-F1927A7AF4CB}"/>
              </a:ext>
            </a:extLst>
          </p:cNvPr>
          <p:cNvSpPr>
            <a:spLocks noGrp="1"/>
          </p:cNvSpPr>
          <p:nvPr/>
        </p:nvSpPr>
        <p:spPr>
          <a:xfrm>
            <a:off x="3914775" y="8048625"/>
            <a:ext cx="13049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excluded from the 19 genre features</a:t>
            </a:r>
          </a:p>
        </p:txBody>
      </p:sp>
      <p:sp>
        <p:nvSpPr>
          <p:cNvPr id="19" name="Đường nối Thẳng 18">
            <a:extLst>
              <a:ext uri="{FF2B5EF4-FFF2-40B4-BE49-F238E27FC236}">
                <a16:creationId xmlns:a16="http://schemas.microsoft.com/office/drawing/2014/main" id="{A8FED647-0861-44A4-A67D-3EDAB1F59B26}"/>
              </a:ext>
            </a:extLst>
          </p:cNvPr>
          <p:cNvSpPr>
            <a:spLocks noGrp="1"/>
          </p:cNvSpPr>
          <p:nvPr/>
        </p:nvSpPr>
        <p:spPr>
          <a:xfrm>
            <a:off x="1000125" y="8724900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9C1048F2-98C7-49A6-A092-6D2BF6AF1864}"/>
              </a:ext>
            </a:extLst>
          </p:cNvPr>
          <p:cNvSpPr>
            <a:spLocks noGrp="1"/>
          </p:cNvSpPr>
          <p:nvPr/>
        </p:nvSpPr>
        <p:spPr>
          <a:xfrm>
            <a:off x="1047750" y="9105900"/>
            <a:ext cx="16097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875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No duplicate (userId, movieId) pairs were found.</a:t>
            </a:r>
          </a:p>
        </p:txBody>
      </p:sp>
    </p:spTree>
    <p:extLst>
      <p:ext uri="{BB962C8B-B14F-4D97-AF65-F5344CB8AC3E}">
        <p14:creationId xmlns:p14="http://schemas.microsoft.com/office/powerpoint/2010/main" val="41945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line">
            <a:extLst>
              <a:ext uri="{FF2B5EF4-FFF2-40B4-BE49-F238E27FC236}">
                <a16:creationId xmlns:a16="http://schemas.microsoft.com/office/drawing/2014/main" id="{651795E4-CF51-44BD-BBFE-0A0A6C29FA14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EDA: RATING DISTRIBUTION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ADBB3224-8ABE-4BF3-B357-15F70A9C9638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ABC8981-D593-4B34-B943-8169BD51EFA7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62B5C0F6-27BC-4DA6-B46E-06E98C5110C0}"/>
              </a:ext>
            </a:extLst>
          </p:cNvPr>
          <p:cNvSpPr>
            <a:spLocks noGrp="1"/>
          </p:cNvSpPr>
          <p:nvPr/>
        </p:nvSpPr>
        <p:spPr>
          <a:xfrm>
            <a:off x="828675" y="2562225"/>
            <a:ext cx="11106150" cy="73723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9B9"/>
            </a:solidFill>
            <a:prstDash val="solid"/>
          </a:ln>
        </p:spPr>
      </p:sp>
      <p:pic>
        <p:nvPicPr>
          <p:cNvPr id="13" name="Hình ảnh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5341" y="2638425"/>
            <a:ext cx="10952818" cy="7219950"/>
          </a:xfrm>
          <a:prstGeom prst="rect">
            <a:avLst/>
          </a:prstGeom>
        </p:spPr>
      </p:pic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2BE40909-726F-47D6-9BE8-CAE968AD0521}"/>
              </a:ext>
            </a:extLst>
          </p:cNvPr>
          <p:cNvSpPr>
            <a:spLocks noGrp="1"/>
          </p:cNvSpPr>
          <p:nvPr/>
        </p:nvSpPr>
        <p:spPr>
          <a:xfrm>
            <a:off x="12239625" y="309562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MAIN OBSERVATION</a:t>
            </a:r>
          </a:p>
        </p:txBody>
      </p:sp>
      <p:sp>
        <p:nvSpPr>
          <p:cNvPr id="7" name="Đường nối Thẳng 6">
            <a:extLst>
              <a:ext uri="{FF2B5EF4-FFF2-40B4-BE49-F238E27FC236}">
                <a16:creationId xmlns:a16="http://schemas.microsoft.com/office/drawing/2014/main" id="{316F236F-2BD4-49DE-8D3B-13AC75998C78}"/>
              </a:ext>
            </a:extLst>
          </p:cNvPr>
          <p:cNvSpPr>
            <a:spLocks noGrp="1"/>
          </p:cNvSpPr>
          <p:nvPr/>
        </p:nvSpPr>
        <p:spPr>
          <a:xfrm>
            <a:off x="12239625" y="3743325"/>
            <a:ext cx="476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8A7EDFFA-345F-4101-84E9-D1F91A83006B}"/>
              </a:ext>
            </a:extLst>
          </p:cNvPr>
          <p:cNvSpPr>
            <a:spLocks noGrp="1"/>
          </p:cNvSpPr>
          <p:nvPr/>
        </p:nvSpPr>
        <p:spPr>
          <a:xfrm>
            <a:off x="12239625" y="4095750"/>
            <a:ext cx="4810125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0">
                <a:solidFill>
                  <a:srgbClr val="2B2B2B"/>
                </a:solidFill>
                <a:latin typeface="Fira Code"/>
                <a:ea typeface="Fira Code"/>
                <a:cs typeface="Fira Code"/>
              </a:defRPr>
            </a:pPr>
            <a:r>
              <a:rPr lang="en-US" sz="2325" dirty="0"/>
              <a:t>Most ratings are 3.0 stars or higher, with 4.0 the most frequent. Very low ratings are uncommon.</a:t>
            </a:r>
            <a:endParaRPr sz="2325" b="0" dirty="0">
              <a:solidFill>
                <a:srgbClr val="2B2B2B"/>
              </a:solidFill>
              <a:latin typeface="Fira Code"/>
              <a:ea typeface="Fira Code"/>
              <a:cs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99175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line">
            <a:extLst>
              <a:ext uri="{FF2B5EF4-FFF2-40B4-BE49-F238E27FC236}">
                <a16:creationId xmlns:a16="http://schemas.microsoft.com/office/drawing/2014/main" id="{2FC4E073-2C5E-4D52-8835-770F27ED1896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EDA: USER ACTIVITY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77E355AA-A72B-46C9-BC28-1EF4571403F9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0F2636C-1ACB-4DE0-AF2F-D44ABE421282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8D321BEF-801A-4583-8D21-2D4DB2E732D1}"/>
              </a:ext>
            </a:extLst>
          </p:cNvPr>
          <p:cNvSpPr>
            <a:spLocks noGrp="1"/>
          </p:cNvSpPr>
          <p:nvPr/>
        </p:nvSpPr>
        <p:spPr>
          <a:xfrm>
            <a:off x="828675" y="2562225"/>
            <a:ext cx="11106150" cy="73723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9B9"/>
            </a:solidFill>
            <a:prstDash val="solid"/>
          </a:ln>
        </p:spPr>
      </p:sp>
      <p:pic>
        <p:nvPicPr>
          <p:cNvPr id="13" name="Hình ảnh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43595" y="2638425"/>
            <a:ext cx="10676309" cy="7219950"/>
          </a:xfrm>
          <a:prstGeom prst="rect">
            <a:avLst/>
          </a:prstGeom>
        </p:spPr>
      </p:pic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43D8BFAF-5D0C-4C73-8F1C-345EDB632C9F}"/>
              </a:ext>
            </a:extLst>
          </p:cNvPr>
          <p:cNvSpPr>
            <a:spLocks noGrp="1"/>
          </p:cNvSpPr>
          <p:nvPr/>
        </p:nvSpPr>
        <p:spPr>
          <a:xfrm>
            <a:off x="12239625" y="309562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MAIN OBSERVATION</a:t>
            </a:r>
          </a:p>
        </p:txBody>
      </p:sp>
      <p:sp>
        <p:nvSpPr>
          <p:cNvPr id="7" name="Đường nối Thẳng 6">
            <a:extLst>
              <a:ext uri="{FF2B5EF4-FFF2-40B4-BE49-F238E27FC236}">
                <a16:creationId xmlns:a16="http://schemas.microsoft.com/office/drawing/2014/main" id="{17E553E3-965A-4581-8E20-219AD7B7EBEE}"/>
              </a:ext>
            </a:extLst>
          </p:cNvPr>
          <p:cNvSpPr>
            <a:spLocks noGrp="1"/>
          </p:cNvSpPr>
          <p:nvPr/>
        </p:nvSpPr>
        <p:spPr>
          <a:xfrm>
            <a:off x="12239625" y="3743325"/>
            <a:ext cx="476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EA4487CB-6C67-4E9D-A1CF-08B3894EDE6C}"/>
              </a:ext>
            </a:extLst>
          </p:cNvPr>
          <p:cNvSpPr>
            <a:spLocks noGrp="1"/>
          </p:cNvSpPr>
          <p:nvPr/>
        </p:nvSpPr>
        <p:spPr>
          <a:xfrm>
            <a:off x="12239625" y="4095750"/>
            <a:ext cx="4810125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0">
                <a:solidFill>
                  <a:srgbClr val="2B2B2B"/>
                </a:solidFill>
                <a:latin typeface="Fira Code"/>
                <a:ea typeface="Fira Code"/>
                <a:cs typeface="Fira Code"/>
              </a:defRPr>
            </a:pPr>
            <a:r>
              <a:rPr lang="en-US" sz="2325" dirty="0"/>
              <a:t>Most users rate relatively few movies, while a small number contribute over 1,000 ratings. User activity is highly uneven.</a:t>
            </a:r>
            <a:endParaRPr sz="2325" b="0" dirty="0">
              <a:solidFill>
                <a:srgbClr val="2B2B2B"/>
              </a:solidFill>
              <a:latin typeface="Fira Code"/>
              <a:ea typeface="Fira Code"/>
              <a:cs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34160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line">
            <a:extLst>
              <a:ext uri="{FF2B5EF4-FFF2-40B4-BE49-F238E27FC236}">
                <a16:creationId xmlns:a16="http://schemas.microsoft.com/office/drawing/2014/main" id="{3202DC99-1C5E-4460-9475-6F9986CF2C3D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EDA: GENRE DISTRIBUTION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D8CD2872-4BEF-4983-9783-296F4849C198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305B754-3869-4F12-B45C-141D51C49F6A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902C416-055F-4621-9670-DEC76D607006}"/>
              </a:ext>
            </a:extLst>
          </p:cNvPr>
          <p:cNvSpPr>
            <a:spLocks noGrp="1"/>
          </p:cNvSpPr>
          <p:nvPr/>
        </p:nvSpPr>
        <p:spPr>
          <a:xfrm>
            <a:off x="828675" y="2562225"/>
            <a:ext cx="11391900" cy="73723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9B9"/>
            </a:solidFill>
            <a:prstDash val="solid"/>
          </a:ln>
        </p:spPr>
      </p:sp>
      <p:pic>
        <p:nvPicPr>
          <p:cNvPr id="13" name="Hình ảnh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03057" y="2638425"/>
            <a:ext cx="10043136" cy="7219950"/>
          </a:xfrm>
          <a:prstGeom prst="rect">
            <a:avLst/>
          </a:prstGeom>
        </p:spPr>
      </p:pic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41B77E6-0C17-41E0-ADAA-7FCAD0449E31}"/>
              </a:ext>
            </a:extLst>
          </p:cNvPr>
          <p:cNvSpPr>
            <a:spLocks noGrp="1"/>
          </p:cNvSpPr>
          <p:nvPr/>
        </p:nvSpPr>
        <p:spPr>
          <a:xfrm>
            <a:off x="12525375" y="3095625"/>
            <a:ext cx="4857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MAIN OBSERVATION</a:t>
            </a:r>
          </a:p>
        </p:txBody>
      </p:sp>
      <p:sp>
        <p:nvSpPr>
          <p:cNvPr id="7" name="Đường nối Thẳng 6">
            <a:extLst>
              <a:ext uri="{FF2B5EF4-FFF2-40B4-BE49-F238E27FC236}">
                <a16:creationId xmlns:a16="http://schemas.microsoft.com/office/drawing/2014/main" id="{D0937BF3-6D4E-4578-8995-CC9D5FC37592}"/>
              </a:ext>
            </a:extLst>
          </p:cNvPr>
          <p:cNvSpPr>
            <a:spLocks noGrp="1"/>
          </p:cNvSpPr>
          <p:nvPr/>
        </p:nvSpPr>
        <p:spPr>
          <a:xfrm>
            <a:off x="12525375" y="3743325"/>
            <a:ext cx="476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43CF68D7-9894-46B0-8C76-C296C061C73E}"/>
              </a:ext>
            </a:extLst>
          </p:cNvPr>
          <p:cNvSpPr>
            <a:spLocks noGrp="1"/>
          </p:cNvSpPr>
          <p:nvPr/>
        </p:nvSpPr>
        <p:spPr>
          <a:xfrm>
            <a:off x="12525375" y="4095750"/>
            <a:ext cx="4810125" cy="3905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325" b="0">
                <a:solidFill>
                  <a:srgbClr val="2B2B2B"/>
                </a:solidFill>
                <a:latin typeface="Fira Code"/>
                <a:ea typeface="Fira Code"/>
                <a:cs typeface="Fira Code"/>
              </a:defRPr>
            </a:pPr>
            <a:r>
              <a:rPr lang="en-US" sz="2325" dirty="0"/>
              <a:t>Drama and Comedy dominate the catalog, while genres such as Film-Noir and IMAX have far fewer movies. This imbalance may favor common genres in the model.</a:t>
            </a:r>
            <a:endParaRPr sz="2325" b="0" dirty="0">
              <a:solidFill>
                <a:srgbClr val="2B2B2B"/>
              </a:solidFill>
              <a:latin typeface="Fira Code"/>
              <a:ea typeface="Fira Code"/>
              <a:cs typeface="Fira Code"/>
            </a:endParaRPr>
          </a:p>
        </p:txBody>
      </p:sp>
    </p:spTree>
    <p:extLst>
      <p:ext uri="{BB962C8B-B14F-4D97-AF65-F5344CB8AC3E}">
        <p14:creationId xmlns:p14="http://schemas.microsoft.com/office/powerpoint/2010/main" val="1227481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8D2F62-A9E8-4A72-A2D3-D42CBF5C15CB}"/>
              </a:ext>
            </a:extLst>
          </p:cNvPr>
          <p:cNvSpPr>
            <a:spLocks noGrp="1"/>
          </p:cNvSpPr>
          <p:nvPr/>
        </p:nvSpPr>
        <p:spPr>
          <a:xfrm>
            <a:off x="2329889" y="1543957"/>
            <a:ext cx="12934551" cy="6124377"/>
          </a:xfrm>
          <a:custGeom>
            <a:avLst/>
            <a:gdLst/>
            <a:ahLst/>
            <a:cxnLst/>
            <a:rect l="l" t="t" r="r" b="b"/>
            <a:pathLst>
              <a:path w="12934551" h="6124377">
                <a:moveTo>
                  <a:pt x="0" y="0"/>
                </a:moveTo>
                <a:lnTo>
                  <a:pt x="12934551" y="0"/>
                </a:lnTo>
                <a:lnTo>
                  <a:pt x="12934551" y="6124377"/>
                </a:lnTo>
                <a:lnTo>
                  <a:pt x="0" y="6124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40" b="-16863"/>
            </a:stretch>
          </a:blipFill>
          <a:ln w="38100">
            <a:solidFill>
              <a:srgbClr val="000000"/>
            </a:solidFill>
            <a:prstDash val="solid"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F7E7D49-2531-4377-8766-7247889A95FF}"/>
              </a:ext>
            </a:extLst>
          </p:cNvPr>
          <p:cNvSpPr>
            <a:spLocks noGrp="1"/>
          </p:cNvSpPr>
          <p:nvPr/>
        </p:nvSpPr>
        <p:spPr>
          <a:xfrm>
            <a:off x="-2310469" y="427118"/>
            <a:ext cx="9280715" cy="68821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r">
              <a:lnSpc>
                <a:spcPts val="4322"/>
              </a:lnSpc>
              <a:buNone/>
            </a:pPr>
            <a:r>
              <a:rPr sz="7203" spc="-144">
                <a:solidFill>
                  <a:srgbClr val="1A1A1A"/>
                </a:solidFill>
                <a:latin typeface="RQND Pro Condensed"/>
                <a:ea typeface="RQND Pro Condensed"/>
                <a:cs typeface="RQND Pro Condensed"/>
              </a:rPr>
              <a:t>DATA PREPROCESSING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AE51349-7552-453C-B255-6C86E061C625}"/>
              </a:ext>
            </a:extLst>
          </p:cNvPr>
          <p:cNvSpPr>
            <a:spLocks noGrp="1"/>
          </p:cNvSpPr>
          <p:nvPr/>
        </p:nvSpPr>
        <p:spPr>
          <a:xfrm>
            <a:off x="1337745" y="8096484"/>
            <a:ext cx="16803841" cy="14478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The system uses two main CSV files from the MovieLens small dataset: movies.csv and ratings.csv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The movie file contains 9,742 movies with three main columns: movieId, title, and genres </a:t>
            </a: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The rating file contains 100,836 ratings from 610 users on a scale from 0.5 to 5.0 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DDF3A6E-A6CE-416C-AA73-40F874274D60}"/>
              </a:ext>
            </a:extLst>
          </p:cNvPr>
          <p:cNvSpPr>
            <a:spLocks noGrp="1"/>
          </p:cNvSpPr>
          <p:nvPr/>
        </p:nvSpPr>
        <p:spPr>
          <a:xfrm>
            <a:off x="704724" y="1115332"/>
            <a:ext cx="8092440" cy="10954"/>
          </a:xfrm>
          <a:custGeom>
            <a:avLst/>
            <a:gdLst/>
            <a:ahLst/>
            <a:cxnLst/>
            <a:rect l="l" t="t" r="r" b="b"/>
            <a:pathLst>
              <a:path w="10789920" h="14605">
                <a:moveTo>
                  <a:pt x="0" y="0"/>
                </a:moveTo>
                <a:lnTo>
                  <a:pt x="10789920" y="0"/>
                </a:lnTo>
                <a:lnTo>
                  <a:pt x="1078992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141414"/>
          </a:solidFill>
        </p:spPr>
      </p:sp>
    </p:spTree>
    <p:extLst>
      <p:ext uri="{BB962C8B-B14F-4D97-AF65-F5344CB8AC3E}">
        <p14:creationId xmlns:p14="http://schemas.microsoft.com/office/powerpoint/2010/main" val="259485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6BCF30-31E5-4684-91FF-069325AAD0E2}"/>
              </a:ext>
            </a:extLst>
          </p:cNvPr>
          <p:cNvSpPr>
            <a:spLocks noGrp="1"/>
          </p:cNvSpPr>
          <p:nvPr/>
        </p:nvSpPr>
        <p:spPr>
          <a:xfrm>
            <a:off x="2775313" y="1161477"/>
            <a:ext cx="12057650" cy="7336167"/>
          </a:xfrm>
          <a:custGeom>
            <a:avLst/>
            <a:gdLst/>
            <a:ahLst/>
            <a:cxnLst/>
            <a:rect l="l" t="t" r="r" b="b"/>
            <a:pathLst>
              <a:path w="12057650" h="7336167">
                <a:moveTo>
                  <a:pt x="0" y="0"/>
                </a:moveTo>
                <a:lnTo>
                  <a:pt x="12057649" y="0"/>
                </a:lnTo>
                <a:lnTo>
                  <a:pt x="12057649" y="7336167"/>
                </a:lnTo>
                <a:lnTo>
                  <a:pt x="0" y="73361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" b="-4625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F809FF8-E185-49AC-A5C4-87C38C8BD383}"/>
              </a:ext>
            </a:extLst>
          </p:cNvPr>
          <p:cNvSpPr>
            <a:spLocks noGrp="1"/>
          </p:cNvSpPr>
          <p:nvPr/>
        </p:nvSpPr>
        <p:spPr>
          <a:xfrm>
            <a:off x="-3592151" y="-290297"/>
            <a:ext cx="14819102" cy="12326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099"/>
              </a:lnSpc>
              <a:spcBef>
                <a:spcPct val="0"/>
              </a:spcBef>
              <a:buNone/>
            </a:pPr>
            <a:r>
              <a:rPr sz="7213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Data Preprocessing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E71A28B-5CCB-4B16-AD2D-7B6856E70020}"/>
              </a:ext>
            </a:extLst>
          </p:cNvPr>
          <p:cNvSpPr>
            <a:spLocks noGrp="1"/>
          </p:cNvSpPr>
          <p:nvPr/>
        </p:nvSpPr>
        <p:spPr>
          <a:xfrm>
            <a:off x="1179151" y="8716719"/>
            <a:ext cx="16776016" cy="14478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17302" lvl="1" indent="-258651" algn="l">
              <a:lnSpc>
                <a:spcPts val="2875"/>
              </a:lnSpc>
              <a:buFont typeface="Arial"/>
              <a:buChar char="•"/>
            </a:pPr>
            <a:r>
              <a:rPr sz="2396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Each genre becomes a binary column, converting categorical text into numeric values ready for further processing.</a:t>
            </a:r>
          </a:p>
          <a:p>
            <a:pPr marL="517302" lvl="1" indent="-258651" algn="l">
              <a:lnSpc>
                <a:spcPts val="2875"/>
              </a:lnSpc>
              <a:buFont typeface="Arial"/>
              <a:buChar char="•"/>
            </a:pPr>
            <a:r>
              <a:rPr sz="2396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This merged table serves as the foundation for computing each user's genre preference in the next step.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ED085A0-53B2-4EAB-91A5-FEE85C0248EC}"/>
              </a:ext>
            </a:extLst>
          </p:cNvPr>
          <p:cNvSpPr>
            <a:spLocks noGrp="1"/>
          </p:cNvSpPr>
          <p:nvPr/>
        </p:nvSpPr>
        <p:spPr>
          <a:xfrm>
            <a:off x="576467" y="942402"/>
            <a:ext cx="8092440" cy="10954"/>
          </a:xfrm>
          <a:custGeom>
            <a:avLst/>
            <a:gdLst/>
            <a:ahLst/>
            <a:cxnLst/>
            <a:rect l="l" t="t" r="r" b="b"/>
            <a:pathLst>
              <a:path w="10789920" h="14605">
                <a:moveTo>
                  <a:pt x="0" y="0"/>
                </a:moveTo>
                <a:lnTo>
                  <a:pt x="10789920" y="0"/>
                </a:lnTo>
                <a:lnTo>
                  <a:pt x="1078992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141414"/>
          </a:solidFill>
        </p:spPr>
      </p:sp>
    </p:spTree>
    <p:extLst>
      <p:ext uri="{BB962C8B-B14F-4D97-AF65-F5344CB8AC3E}">
        <p14:creationId xmlns:p14="http://schemas.microsoft.com/office/powerpoint/2010/main" val="850233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76BD0E-317F-4D64-84F2-997C3875E956}"/>
              </a:ext>
            </a:extLst>
          </p:cNvPr>
          <p:cNvSpPr>
            <a:spLocks noGrp="1"/>
          </p:cNvSpPr>
          <p:nvPr/>
        </p:nvSpPr>
        <p:spPr>
          <a:xfrm>
            <a:off x="168333" y="2448309"/>
            <a:ext cx="11908189" cy="6553050"/>
          </a:xfrm>
          <a:custGeom>
            <a:avLst/>
            <a:gdLst/>
            <a:ahLst/>
            <a:cxnLst/>
            <a:rect l="l" t="t" r="r" b="b"/>
            <a:pathLst>
              <a:path w="11908189" h="6553050">
                <a:moveTo>
                  <a:pt x="0" y="0"/>
                </a:moveTo>
                <a:lnTo>
                  <a:pt x="11908190" y="0"/>
                </a:lnTo>
                <a:lnTo>
                  <a:pt x="11908190" y="6553050"/>
                </a:lnTo>
                <a:lnTo>
                  <a:pt x="0" y="6553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00" t="-3080" r="-4600" b="-7052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8717F25-617F-4413-9BFE-13DA141D3FBB}"/>
              </a:ext>
            </a:extLst>
          </p:cNvPr>
          <p:cNvSpPr>
            <a:spLocks noGrp="1"/>
          </p:cNvSpPr>
          <p:nvPr/>
        </p:nvSpPr>
        <p:spPr>
          <a:xfrm>
            <a:off x="168333" y="657799"/>
            <a:ext cx="5714504" cy="6939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466"/>
              </a:lnSpc>
              <a:buNone/>
            </a:pPr>
            <a:r>
              <a:rPr sz="7203" spc="-144" dirty="0">
                <a:solidFill>
                  <a:srgbClr val="2B2B2B"/>
                </a:solidFill>
                <a:latin typeface="RQND Pro Condensed"/>
                <a:ea typeface="RQND Pro Condensed"/>
                <a:cs typeface="RQND Pro Condensed"/>
              </a:rPr>
              <a:t>CENTERED RATING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2A52C3B-416E-47DC-8952-9CB70CBA6127}"/>
              </a:ext>
            </a:extLst>
          </p:cNvPr>
          <p:cNvSpPr>
            <a:spLocks noGrp="1"/>
          </p:cNvSpPr>
          <p:nvPr/>
        </p:nvSpPr>
        <p:spPr>
          <a:xfrm>
            <a:off x="12190838" y="4116651"/>
            <a:ext cx="5875681" cy="2454500"/>
          </a:xfrm>
          <a:custGeom>
            <a:avLst/>
            <a:gdLst/>
            <a:ahLst/>
            <a:cxnLst/>
            <a:rect l="l" t="t" r="r" b="b"/>
            <a:pathLst>
              <a:path w="1547505" h="646453">
                <a:moveTo>
                  <a:pt x="0" y="0"/>
                </a:moveTo>
                <a:lnTo>
                  <a:pt x="1547505" y="0"/>
                </a:lnTo>
                <a:lnTo>
                  <a:pt x="1547505" y="646453"/>
                </a:lnTo>
                <a:lnTo>
                  <a:pt x="0" y="646453"/>
                </a:lnTo>
                <a:close/>
              </a:path>
            </a:pathLst>
          </a:custGeom>
          <a:solidFill>
            <a:srgbClr val="2B2B2B"/>
          </a:solid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15709A0-5973-45DE-B6F0-4E187EC89A4A}"/>
              </a:ext>
            </a:extLst>
          </p:cNvPr>
          <p:cNvSpPr>
            <a:spLocks noGrp="1"/>
          </p:cNvSpPr>
          <p:nvPr/>
        </p:nvSpPr>
        <p:spPr>
          <a:xfrm>
            <a:off x="12190838" y="4225146"/>
            <a:ext cx="5875681" cy="234600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1800"/>
              </a:lnSpc>
              <a:buNone/>
            </a:pPr>
            <a:r>
              <a:rPr sz="1800" b="1" spc="-53">
                <a:solidFill>
                  <a:srgbClr val="FFFFFF"/>
                </a:solidFill>
                <a:latin typeface="Mina Bold"/>
                <a:ea typeface="Mina Bold"/>
                <a:cs typeface="Mina Bold"/>
              </a:rPr>
              <a:t>610 USERS × 9,742 MOVIES — BUT MOST CELLS ARE NEVER FILLED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2DB9BB6-9259-4535-91D5-3D04C0B67AFC}"/>
              </a:ext>
            </a:extLst>
          </p:cNvPr>
          <p:cNvSpPr>
            <a:spLocks noGrp="1"/>
          </p:cNvSpPr>
          <p:nvPr/>
        </p:nvSpPr>
        <p:spPr>
          <a:xfrm>
            <a:off x="168333" y="1274687"/>
            <a:ext cx="8092440" cy="10954"/>
          </a:xfrm>
          <a:custGeom>
            <a:avLst/>
            <a:gdLst/>
            <a:ahLst/>
            <a:cxnLst/>
            <a:rect l="l" t="t" r="r" b="b"/>
            <a:pathLst>
              <a:path w="10789920" h="14605">
                <a:moveTo>
                  <a:pt x="0" y="0"/>
                </a:moveTo>
                <a:lnTo>
                  <a:pt x="10789920" y="0"/>
                </a:lnTo>
                <a:lnTo>
                  <a:pt x="1078992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141414"/>
          </a:solidFill>
        </p:spPr>
      </p:sp>
    </p:spTree>
    <p:extLst>
      <p:ext uri="{BB962C8B-B14F-4D97-AF65-F5344CB8AC3E}">
        <p14:creationId xmlns:p14="http://schemas.microsoft.com/office/powerpoint/2010/main" val="1479231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2F512F1-32DF-47FE-A54E-4CE359F875EB}"/>
              </a:ext>
            </a:extLst>
          </p:cNvPr>
          <p:cNvSpPr>
            <a:spLocks noGrp="1"/>
          </p:cNvSpPr>
          <p:nvPr/>
        </p:nvSpPr>
        <p:spPr>
          <a:xfrm>
            <a:off x="616225" y="1992455"/>
            <a:ext cx="16829221" cy="4706107"/>
          </a:xfrm>
          <a:custGeom>
            <a:avLst/>
            <a:gdLst/>
            <a:ahLst/>
            <a:cxnLst/>
            <a:rect l="l" t="t" r="r" b="b"/>
            <a:pathLst>
              <a:path w="16829221" h="4706107">
                <a:moveTo>
                  <a:pt x="0" y="0"/>
                </a:moveTo>
                <a:lnTo>
                  <a:pt x="16829221" y="0"/>
                </a:lnTo>
                <a:lnTo>
                  <a:pt x="16829221" y="4706106"/>
                </a:lnTo>
                <a:lnTo>
                  <a:pt x="0" y="4706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88" r="-1163"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9209F3C-4050-4FAA-B2BA-76C385A39956}"/>
              </a:ext>
            </a:extLst>
          </p:cNvPr>
          <p:cNvSpPr>
            <a:spLocks noGrp="1"/>
          </p:cNvSpPr>
          <p:nvPr/>
        </p:nvSpPr>
        <p:spPr>
          <a:xfrm>
            <a:off x="616225" y="681221"/>
            <a:ext cx="5699736" cy="70067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4454"/>
              </a:lnSpc>
              <a:buNone/>
            </a:pPr>
            <a:r>
              <a:rPr sz="7185" spc="-143">
                <a:solidFill>
                  <a:srgbClr val="2B2B2B"/>
                </a:solidFill>
                <a:latin typeface="RQND Pro Condensed"/>
                <a:ea typeface="RQND Pro Condensed"/>
                <a:cs typeface="RQND Pro Condensed"/>
              </a:rPr>
              <a:t>CENTERED RATING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199AAB9-0B1E-4845-A3D5-524F23582472}"/>
              </a:ext>
            </a:extLst>
          </p:cNvPr>
          <p:cNvSpPr>
            <a:spLocks noGrp="1"/>
          </p:cNvSpPr>
          <p:nvPr/>
        </p:nvSpPr>
        <p:spPr>
          <a:xfrm>
            <a:off x="1164755" y="7960804"/>
            <a:ext cx="11063611" cy="203348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500013" lvl="1" indent="-250007" algn="l">
              <a:lnSpc>
                <a:spcPts val="3242"/>
              </a:lnSpc>
              <a:buFont typeface="Arial"/>
              <a:buChar char="•"/>
            </a:pPr>
            <a:r>
              <a:rPr sz="2315" b="1">
                <a:solidFill>
                  <a:srgbClr val="000000"/>
                </a:solidFill>
                <a:latin typeface="Fira Code Bold"/>
                <a:ea typeface="Fira Code Bold"/>
                <a:cs typeface="Fira Code Bold"/>
              </a:rPr>
              <a:t>Positive → user likes that genre more than average</a:t>
            </a:r>
          </a:p>
          <a:p>
            <a:pPr marL="500013" lvl="1" indent="-250007" algn="l">
              <a:lnSpc>
                <a:spcPts val="3242"/>
              </a:lnSpc>
              <a:buFont typeface="Arial"/>
              <a:buChar char="•"/>
            </a:pPr>
            <a:r>
              <a:rPr sz="2315" b="1">
                <a:solidFill>
                  <a:srgbClr val="000000"/>
                </a:solidFill>
                <a:latin typeface="Fira Code Bold"/>
                <a:ea typeface="Fira Code Bold"/>
                <a:cs typeface="Fira Code Bold"/>
              </a:rPr>
              <a:t>Negative → user likes it less than average</a:t>
            </a:r>
          </a:p>
          <a:p>
            <a:pPr marL="500013" lvl="1" indent="-250007" algn="l">
              <a:lnSpc>
                <a:spcPts val="3242"/>
              </a:lnSpc>
              <a:buFont typeface="Arial"/>
              <a:buChar char="•"/>
            </a:pPr>
            <a:r>
              <a:rPr sz="2315" b="1">
                <a:solidFill>
                  <a:srgbClr val="000000"/>
                </a:solidFill>
                <a:latin typeface="Fira Code Bold"/>
                <a:ea typeface="Fira Code Bold"/>
                <a:cs typeface="Fira Code Bold"/>
              </a:rPr>
              <a:t>Centered rating removes personal bias → scores reflect true genre preference, not rating habits</a:t>
            </a:r>
          </a:p>
          <a:p>
            <a:pPr algn="l">
              <a:lnSpc>
                <a:spcPts val="3242"/>
              </a:lnSpc>
              <a:buNone/>
            </a:pPr>
            <a:endParaRPr sz="2315" b="1">
              <a:solidFill>
                <a:srgbClr val="000000"/>
              </a:solidFill>
              <a:latin typeface="Fira Code Bold"/>
              <a:ea typeface="Fira Code Bold"/>
              <a:cs typeface="Fira Code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E9C96D2-9B4C-488E-9C7B-AB193F3DC747}"/>
              </a:ext>
            </a:extLst>
          </p:cNvPr>
          <p:cNvSpPr>
            <a:spLocks noGrp="1"/>
          </p:cNvSpPr>
          <p:nvPr/>
        </p:nvSpPr>
        <p:spPr>
          <a:xfrm>
            <a:off x="4284201" y="6935915"/>
            <a:ext cx="9191484" cy="33656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767"/>
              </a:lnSpc>
              <a:buNone/>
            </a:pPr>
            <a:r>
              <a:rPr sz="1977" b="1" i="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</a:rPr>
              <a:t>Each value = user's avg rating on that genre − their overall avg rating 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E17EE99-095C-4977-A1B7-80685139A8AF}"/>
              </a:ext>
            </a:extLst>
          </p:cNvPr>
          <p:cNvSpPr>
            <a:spLocks noGrp="1"/>
          </p:cNvSpPr>
          <p:nvPr/>
        </p:nvSpPr>
        <p:spPr>
          <a:xfrm>
            <a:off x="616225" y="1298654"/>
            <a:ext cx="8092440" cy="10954"/>
          </a:xfrm>
          <a:custGeom>
            <a:avLst/>
            <a:gdLst/>
            <a:ahLst/>
            <a:cxnLst/>
            <a:rect l="l" t="t" r="r" b="b"/>
            <a:pathLst>
              <a:path w="10789920" h="14605">
                <a:moveTo>
                  <a:pt x="0" y="0"/>
                </a:moveTo>
                <a:lnTo>
                  <a:pt x="10789920" y="0"/>
                </a:lnTo>
                <a:lnTo>
                  <a:pt x="1078992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141414"/>
          </a:solidFill>
        </p:spPr>
      </p:sp>
    </p:spTree>
    <p:extLst>
      <p:ext uri="{BB962C8B-B14F-4D97-AF65-F5344CB8AC3E}">
        <p14:creationId xmlns:p14="http://schemas.microsoft.com/office/powerpoint/2010/main" val="193062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7B95B71-5805-47D3-A5EF-344855F67AD8}"/>
              </a:ext>
            </a:extLst>
          </p:cNvPr>
          <p:cNvSpPr>
            <a:spLocks noGrp="1"/>
          </p:cNvSpPr>
          <p:nvPr/>
        </p:nvSpPr>
        <p:spPr>
          <a:xfrm>
            <a:off x="1028700" y="1033463"/>
            <a:ext cx="7703759" cy="0"/>
          </a:xfrm>
          <a:prstGeom prst="line">
            <a:avLst/>
          </a:prstGeom>
          <a:ln w="9525">
            <a:solidFill>
              <a:srgbClr val="E8E8E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A5ABF5-14D3-413B-8D3A-99D4FF783E1C}"/>
              </a:ext>
            </a:extLst>
          </p:cNvPr>
          <p:cNvSpPr>
            <a:spLocks noGrp="1"/>
          </p:cNvSpPr>
          <p:nvPr/>
        </p:nvSpPr>
        <p:spPr>
          <a:xfrm flipH="1">
            <a:off x="17259300" y="2890251"/>
            <a:ext cx="252007" cy="195649"/>
          </a:xfrm>
          <a:custGeom>
            <a:avLst/>
            <a:gdLst/>
            <a:ahLst/>
            <a:cxnLst/>
            <a:rect l="l" t="t" r="r" b="b"/>
            <a:pathLst>
              <a:path w="252007" h="195649">
                <a:moveTo>
                  <a:pt x="252007" y="0"/>
                </a:moveTo>
                <a:lnTo>
                  <a:pt x="0" y="0"/>
                </a:lnTo>
                <a:lnTo>
                  <a:pt x="0" y="195650"/>
                </a:lnTo>
                <a:lnTo>
                  <a:pt x="252007" y="195650"/>
                </a:lnTo>
                <a:lnTo>
                  <a:pt x="2520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B42EBE5-294F-42C9-BFD0-A899ACADA2A2}"/>
              </a:ext>
            </a:extLst>
          </p:cNvPr>
          <p:cNvSpPr>
            <a:spLocks noGrp="1"/>
          </p:cNvSpPr>
          <p:nvPr/>
        </p:nvSpPr>
        <p:spPr>
          <a:xfrm>
            <a:off x="13209332" y="9170102"/>
            <a:ext cx="352791" cy="88198"/>
          </a:xfrm>
          <a:custGeom>
            <a:avLst/>
            <a:gdLst/>
            <a:ahLst/>
            <a:cxnLst/>
            <a:rect l="l" t="t" r="r" b="b"/>
            <a:pathLst>
              <a:path w="352791" h="88198">
                <a:moveTo>
                  <a:pt x="0" y="0"/>
                </a:moveTo>
                <a:lnTo>
                  <a:pt x="352791" y="0"/>
                </a:lnTo>
                <a:lnTo>
                  <a:pt x="352791" y="88198"/>
                </a:lnTo>
                <a:lnTo>
                  <a:pt x="0" y="88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6B8C956-EA4E-4988-AC27-61E650EB0266}"/>
              </a:ext>
            </a:extLst>
          </p:cNvPr>
          <p:cNvSpPr>
            <a:spLocks noGrp="1"/>
          </p:cNvSpPr>
          <p:nvPr/>
        </p:nvSpPr>
        <p:spPr>
          <a:xfrm>
            <a:off x="383636" y="1911057"/>
            <a:ext cx="13178487" cy="7944357"/>
          </a:xfrm>
          <a:custGeom>
            <a:avLst/>
            <a:gdLst/>
            <a:ahLst/>
            <a:cxnLst/>
            <a:rect l="l" t="t" r="r" b="b"/>
            <a:pathLst>
              <a:path w="13178487" h="7944357">
                <a:moveTo>
                  <a:pt x="0" y="0"/>
                </a:moveTo>
                <a:lnTo>
                  <a:pt x="13178487" y="0"/>
                </a:lnTo>
                <a:lnTo>
                  <a:pt x="13178487" y="7944357"/>
                </a:lnTo>
                <a:lnTo>
                  <a:pt x="0" y="79443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86" t="-54" b="-54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FB1E548-36B2-4FDE-B00C-31E8EFDFC073}"/>
              </a:ext>
            </a:extLst>
          </p:cNvPr>
          <p:cNvSpPr>
            <a:spLocks noGrp="1"/>
          </p:cNvSpPr>
          <p:nvPr/>
        </p:nvSpPr>
        <p:spPr>
          <a:xfrm>
            <a:off x="589888" y="758933"/>
            <a:ext cx="6899240" cy="6849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ts val="4321"/>
              </a:lnSpc>
              <a:buNone/>
            </a:pPr>
            <a:r>
              <a:rPr sz="7202" spc="-144" dirty="0">
                <a:solidFill>
                  <a:srgbClr val="000000"/>
                </a:solidFill>
                <a:latin typeface="RQND Pro Condensed"/>
                <a:ea typeface="RQND Pro Condensed"/>
                <a:cs typeface="RQND Pro Condensed"/>
              </a:rPr>
              <a:t>USER-GENRE MATRIX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E3FA8D1-2C88-425E-B1AB-08393F3027D0}"/>
              </a:ext>
            </a:extLst>
          </p:cNvPr>
          <p:cNvSpPr>
            <a:spLocks noGrp="1"/>
          </p:cNvSpPr>
          <p:nvPr/>
        </p:nvSpPr>
        <p:spPr>
          <a:xfrm>
            <a:off x="589888" y="1329373"/>
            <a:ext cx="8092440" cy="10954"/>
          </a:xfrm>
          <a:custGeom>
            <a:avLst/>
            <a:gdLst/>
            <a:ahLst/>
            <a:cxnLst/>
            <a:rect l="l" t="t" r="r" b="b"/>
            <a:pathLst>
              <a:path w="10789920" h="14605">
                <a:moveTo>
                  <a:pt x="0" y="0"/>
                </a:moveTo>
                <a:lnTo>
                  <a:pt x="10789920" y="0"/>
                </a:lnTo>
                <a:lnTo>
                  <a:pt x="1078992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141414"/>
          </a:solid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8D3CE4E-F8E5-4D13-8977-79C6D06BC8DF}"/>
              </a:ext>
            </a:extLst>
          </p:cNvPr>
          <p:cNvSpPr>
            <a:spLocks noGrp="1"/>
          </p:cNvSpPr>
          <p:nvPr/>
        </p:nvSpPr>
        <p:spPr>
          <a:xfrm>
            <a:off x="13562123" y="2247618"/>
            <a:ext cx="4474974" cy="2962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356211" lvl="1" indent="-178105" algn="l">
              <a:lnSpc>
                <a:spcPts val="1979"/>
              </a:lnSpc>
              <a:buFont typeface="Arial"/>
              <a:buChar char="•"/>
            </a:pPr>
            <a:r>
              <a:rPr sz="1649" b="1">
                <a:solidFill>
                  <a:srgbClr val="000000"/>
                </a:solidFill>
                <a:latin typeface="Fira Code Bold"/>
                <a:ea typeface="Fira Code Bold"/>
                <a:cs typeface="Fira Code Bold"/>
              </a:rPr>
              <a:t>610 × 19 user–genre matrix.</a:t>
            </a:r>
          </a:p>
          <a:p>
            <a:pPr algn="just">
              <a:lnSpc>
                <a:spcPts val="1979"/>
              </a:lnSpc>
              <a:buNone/>
            </a:pPr>
            <a:endParaRPr sz="1649" b="1">
              <a:solidFill>
                <a:srgbClr val="000000"/>
              </a:solidFill>
              <a:latin typeface="Fira Code Bold"/>
              <a:ea typeface="Fira Code Bold"/>
              <a:cs typeface="Fira Code Bold"/>
            </a:endParaRPr>
          </a:p>
          <a:p>
            <a:pPr marL="356211" lvl="1" indent="-178105" algn="just">
              <a:lnSpc>
                <a:spcPts val="1979"/>
              </a:lnSpc>
              <a:buFont typeface="Arial"/>
              <a:buChar char="•"/>
            </a:pPr>
            <a:r>
              <a:rPr sz="1649" b="1">
                <a:solidFill>
                  <a:srgbClr val="000000"/>
                </a:solidFill>
                <a:latin typeface="Fira Code Bold"/>
                <a:ea typeface="Fira Code Bold"/>
                <a:cs typeface="Fira Code Bold"/>
              </a:rPr>
              <a:t>14.43% zero entries (neutral fill or exact zero); 98.3% of user–movie cells are unobserved.</a:t>
            </a:r>
          </a:p>
          <a:p>
            <a:pPr algn="r">
              <a:lnSpc>
                <a:spcPts val="1979"/>
              </a:lnSpc>
              <a:buNone/>
            </a:pPr>
            <a:endParaRPr sz="1649" b="1">
              <a:solidFill>
                <a:srgbClr val="000000"/>
              </a:solidFill>
              <a:latin typeface="Fira Code Bold"/>
              <a:ea typeface="Fira Code Bold"/>
              <a:cs typeface="Fira Code Bold"/>
            </a:endParaRPr>
          </a:p>
          <a:p>
            <a:pPr marL="356211" lvl="1" indent="-178105" algn="l">
              <a:lnSpc>
                <a:spcPts val="1979"/>
              </a:lnSpc>
              <a:buFont typeface="Arial"/>
              <a:buChar char="•"/>
            </a:pPr>
            <a:r>
              <a:rPr sz="1649" b="1">
                <a:solidFill>
                  <a:srgbClr val="000000"/>
                </a:solidFill>
                <a:latin typeface="Fira Code Bold"/>
                <a:ea typeface="Fira Code Bold"/>
                <a:cs typeface="Fira Code Bold"/>
              </a:rPr>
              <a:t>All 610 users retained (at least 20 ratings each).</a:t>
            </a:r>
          </a:p>
        </p:txBody>
      </p:sp>
    </p:spTree>
    <p:extLst>
      <p:ext uri="{BB962C8B-B14F-4D97-AF65-F5344CB8AC3E}">
        <p14:creationId xmlns:p14="http://schemas.microsoft.com/office/powerpoint/2010/main" val="9407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>
            <a:extLst>
              <a:ext uri="{FF2B5EF4-FFF2-40B4-BE49-F238E27FC236}">
                <a16:creationId xmlns:a16="http://schemas.microsoft.com/office/drawing/2014/main" id="{51AEBD52-06D1-48C3-B090-A450B7ABBC0F}"/>
              </a:ext>
            </a:extLst>
          </p:cNvPr>
          <p:cNvSpPr>
            <a:spLocks noGrp="1"/>
          </p:cNvSpPr>
          <p:nvPr/>
        </p:nvSpPr>
        <p:spPr>
          <a:xfrm>
            <a:off x="1013012" y="3052124"/>
            <a:ext cx="8160353" cy="3846194"/>
          </a:xfrm>
          <a:custGeom>
            <a:avLst/>
            <a:gdLst/>
            <a:ahLst/>
            <a:cxnLst/>
            <a:rect l="l" t="t" r="r" b="b"/>
            <a:pathLst>
              <a:path w="10880471" h="5128260">
                <a:moveTo>
                  <a:pt x="0" y="0"/>
                </a:moveTo>
                <a:lnTo>
                  <a:pt x="10880471" y="0"/>
                </a:lnTo>
                <a:lnTo>
                  <a:pt x="10880471" y="5128260"/>
                </a:lnTo>
                <a:lnTo>
                  <a:pt x="0" y="5128260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8CD7822-3AF9-4039-B4FA-255830997457}"/>
              </a:ext>
            </a:extLst>
          </p:cNvPr>
          <p:cNvSpPr>
            <a:spLocks noGrp="1"/>
          </p:cNvSpPr>
          <p:nvPr/>
        </p:nvSpPr>
        <p:spPr>
          <a:xfrm>
            <a:off x="1353312" y="3447288"/>
            <a:ext cx="481089" cy="2571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039"/>
              </a:lnSpc>
              <a:buNone/>
            </a:pPr>
            <a:r>
              <a:rPr sz="1698" b="1">
                <a:solidFill>
                  <a:srgbClr val="141414"/>
                </a:solidFill>
                <a:latin typeface="Fira Code Bold"/>
                <a:ea typeface="Fira Code Bold"/>
                <a:cs typeface="Fira Code Bold"/>
              </a:rPr>
              <a:t>WHY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2EF0721-9D28-498D-92FC-9068E2A99F0E}"/>
              </a:ext>
            </a:extLst>
          </p:cNvPr>
          <p:cNvSpPr>
            <a:spLocks noGrp="1"/>
          </p:cNvSpPr>
          <p:nvPr/>
        </p:nvSpPr>
        <p:spPr>
          <a:xfrm>
            <a:off x="1143000" y="3465576"/>
            <a:ext cx="91440" cy="201168"/>
          </a:xfrm>
          <a:custGeom>
            <a:avLst/>
            <a:gdLst/>
            <a:ahLst/>
            <a:cxnLst/>
            <a:rect l="l" t="t" r="r" b="b"/>
            <a:pathLst>
              <a:path w="121920" h="268224">
                <a:moveTo>
                  <a:pt x="0" y="0"/>
                </a:moveTo>
                <a:lnTo>
                  <a:pt x="121920" y="0"/>
                </a:lnTo>
                <a:lnTo>
                  <a:pt x="121920" y="268224"/>
                </a:lnTo>
                <a:lnTo>
                  <a:pt x="0" y="268224"/>
                </a:lnTo>
                <a:close/>
              </a:path>
            </a:pathLst>
          </a:custGeom>
          <a:solidFill>
            <a:srgbClr val="5E46AA"/>
          </a:solid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998EEAB-C9A2-43C8-A6A0-55B1AC23D6F5}"/>
              </a:ext>
            </a:extLst>
          </p:cNvPr>
          <p:cNvSpPr>
            <a:spLocks noGrp="1"/>
          </p:cNvSpPr>
          <p:nvPr/>
        </p:nvSpPr>
        <p:spPr>
          <a:xfrm>
            <a:off x="2770632" y="3448050"/>
            <a:ext cx="5934456" cy="4476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871"/>
              </a:lnSpc>
              <a:buNone/>
            </a:pPr>
            <a:r>
              <a:rPr sz="1559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K-Means uses Euclidean distance; high-variance genres can dominate the distance calculation.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01AB2D7-94AC-4488-8B31-08902341D691}"/>
              </a:ext>
            </a:extLst>
          </p:cNvPr>
          <p:cNvSpPr>
            <a:spLocks noGrp="1"/>
          </p:cNvSpPr>
          <p:nvPr/>
        </p:nvSpPr>
        <p:spPr>
          <a:xfrm>
            <a:off x="1143000" y="4215384"/>
            <a:ext cx="7680960" cy="10954"/>
          </a:xfrm>
          <a:custGeom>
            <a:avLst/>
            <a:gdLst/>
            <a:ahLst/>
            <a:cxnLst/>
            <a:rect l="l" t="t" r="r" b="b"/>
            <a:pathLst>
              <a:path w="10241280" h="14605">
                <a:moveTo>
                  <a:pt x="0" y="0"/>
                </a:moveTo>
                <a:lnTo>
                  <a:pt x="10241280" y="0"/>
                </a:lnTo>
                <a:lnTo>
                  <a:pt x="1024128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B9B9B9"/>
          </a:solidFill>
        </p:spPr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A075189-5398-4C36-889A-BA04E175647E}"/>
              </a:ext>
            </a:extLst>
          </p:cNvPr>
          <p:cNvSpPr>
            <a:spLocks noGrp="1"/>
          </p:cNvSpPr>
          <p:nvPr/>
        </p:nvSpPr>
        <p:spPr>
          <a:xfrm>
            <a:off x="1353312" y="4681728"/>
            <a:ext cx="481089" cy="2571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039"/>
              </a:lnSpc>
              <a:buNone/>
            </a:pPr>
            <a:r>
              <a:rPr sz="1698" b="1">
                <a:solidFill>
                  <a:srgbClr val="141414"/>
                </a:solidFill>
                <a:latin typeface="Fira Code Bold"/>
                <a:ea typeface="Fira Code Bold"/>
                <a:cs typeface="Fira Code Bold"/>
              </a:rPr>
              <a:t>HOW</a:t>
            </a: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3ED69C00-9A2B-432A-9C37-763942EAC3C2}"/>
              </a:ext>
            </a:extLst>
          </p:cNvPr>
          <p:cNvSpPr>
            <a:spLocks noGrp="1"/>
          </p:cNvSpPr>
          <p:nvPr/>
        </p:nvSpPr>
        <p:spPr>
          <a:xfrm>
            <a:off x="1143000" y="4700016"/>
            <a:ext cx="91440" cy="201168"/>
          </a:xfrm>
          <a:custGeom>
            <a:avLst/>
            <a:gdLst/>
            <a:ahLst/>
            <a:cxnLst/>
            <a:rect l="l" t="t" r="r" b="b"/>
            <a:pathLst>
              <a:path w="121920" h="268224">
                <a:moveTo>
                  <a:pt x="0" y="0"/>
                </a:moveTo>
                <a:lnTo>
                  <a:pt x="121920" y="0"/>
                </a:lnTo>
                <a:lnTo>
                  <a:pt x="121920" y="268224"/>
                </a:lnTo>
                <a:lnTo>
                  <a:pt x="0" y="268224"/>
                </a:lnTo>
                <a:close/>
              </a:path>
            </a:pathLst>
          </a:custGeom>
          <a:solidFill>
            <a:srgbClr val="5E46AA"/>
          </a:solidFill>
        </p:spPr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9818541-DBE0-4B60-9263-460F40DC81C5}"/>
              </a:ext>
            </a:extLst>
          </p:cNvPr>
          <p:cNvSpPr>
            <a:spLocks noGrp="1"/>
          </p:cNvSpPr>
          <p:nvPr/>
        </p:nvSpPr>
        <p:spPr>
          <a:xfrm>
            <a:off x="2770632" y="4682490"/>
            <a:ext cx="5934456" cy="4381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871"/>
              </a:lnSpc>
              <a:buNone/>
            </a:pPr>
            <a:r>
              <a:rPr sz="1559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Apply StandardScaler to every genre column of the User-Genre matrix.</a:t>
            </a: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D3A4AD29-60BD-4CBB-B537-315D7E36527B}"/>
              </a:ext>
            </a:extLst>
          </p:cNvPr>
          <p:cNvSpPr>
            <a:spLocks noGrp="1"/>
          </p:cNvSpPr>
          <p:nvPr/>
        </p:nvSpPr>
        <p:spPr>
          <a:xfrm>
            <a:off x="1143000" y="5449824"/>
            <a:ext cx="7680960" cy="10954"/>
          </a:xfrm>
          <a:custGeom>
            <a:avLst/>
            <a:gdLst/>
            <a:ahLst/>
            <a:cxnLst/>
            <a:rect l="l" t="t" r="r" b="b"/>
            <a:pathLst>
              <a:path w="10241280" h="14605">
                <a:moveTo>
                  <a:pt x="0" y="0"/>
                </a:moveTo>
                <a:lnTo>
                  <a:pt x="10241280" y="0"/>
                </a:lnTo>
                <a:lnTo>
                  <a:pt x="1024128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B9B9B9"/>
          </a:solidFill>
        </p:spPr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3D3D154-C411-456E-8326-C998824253C8}"/>
              </a:ext>
            </a:extLst>
          </p:cNvPr>
          <p:cNvSpPr>
            <a:spLocks noGrp="1"/>
          </p:cNvSpPr>
          <p:nvPr/>
        </p:nvSpPr>
        <p:spPr>
          <a:xfrm>
            <a:off x="1353312" y="5916168"/>
            <a:ext cx="962177" cy="2571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039"/>
              </a:lnSpc>
              <a:buNone/>
            </a:pPr>
            <a:r>
              <a:rPr sz="1698" b="1">
                <a:solidFill>
                  <a:srgbClr val="141414"/>
                </a:solidFill>
                <a:latin typeface="Fira Code Bold"/>
                <a:ea typeface="Fira Code Bold"/>
                <a:cs typeface="Fira Code Bold"/>
              </a:rPr>
              <a:t>OUTCOME</a:t>
            </a:r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0318C225-67A5-4716-AFB1-21C63CBE7DD9}"/>
              </a:ext>
            </a:extLst>
          </p:cNvPr>
          <p:cNvSpPr>
            <a:spLocks noGrp="1"/>
          </p:cNvSpPr>
          <p:nvPr/>
        </p:nvSpPr>
        <p:spPr>
          <a:xfrm>
            <a:off x="1143000" y="5934456"/>
            <a:ext cx="91440" cy="201168"/>
          </a:xfrm>
          <a:custGeom>
            <a:avLst/>
            <a:gdLst/>
            <a:ahLst/>
            <a:cxnLst/>
            <a:rect l="l" t="t" r="r" b="b"/>
            <a:pathLst>
              <a:path w="121920" h="268224">
                <a:moveTo>
                  <a:pt x="0" y="0"/>
                </a:moveTo>
                <a:lnTo>
                  <a:pt x="121920" y="0"/>
                </a:lnTo>
                <a:lnTo>
                  <a:pt x="121920" y="268224"/>
                </a:lnTo>
                <a:lnTo>
                  <a:pt x="0" y="268224"/>
                </a:lnTo>
                <a:close/>
              </a:path>
            </a:pathLst>
          </a:custGeom>
          <a:solidFill>
            <a:srgbClr val="348BD2"/>
          </a:solidFill>
        </p:spPr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64DDCE0-CE40-4FB9-9D48-ABE5725A63FF}"/>
              </a:ext>
            </a:extLst>
          </p:cNvPr>
          <p:cNvSpPr>
            <a:spLocks noGrp="1"/>
          </p:cNvSpPr>
          <p:nvPr/>
        </p:nvSpPr>
        <p:spPr>
          <a:xfrm>
            <a:off x="2770632" y="5916930"/>
            <a:ext cx="5934456" cy="4476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871"/>
              </a:lnSpc>
              <a:buNone/>
            </a:pPr>
            <a:r>
              <a:rPr sz="1559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Each genre feature has mean about 0 and standard deviation about 1 after scaling.</a:t>
            </a:r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FD902ABA-7F89-4521-ACA0-1D55145DBE89}"/>
              </a:ext>
            </a:extLst>
          </p:cNvPr>
          <p:cNvSpPr>
            <a:spLocks noGrp="1"/>
          </p:cNvSpPr>
          <p:nvPr/>
        </p:nvSpPr>
        <p:spPr>
          <a:xfrm>
            <a:off x="10184444" y="1067876"/>
            <a:ext cx="7291673" cy="2993993"/>
          </a:xfrm>
          <a:custGeom>
            <a:avLst/>
            <a:gdLst/>
            <a:ahLst/>
            <a:cxnLst/>
            <a:rect l="l" t="t" r="r" b="b"/>
            <a:pathLst>
              <a:path w="9722231" h="3991991">
                <a:moveTo>
                  <a:pt x="0" y="0"/>
                </a:moveTo>
                <a:lnTo>
                  <a:pt x="9722231" y="0"/>
                </a:lnTo>
                <a:lnTo>
                  <a:pt x="9722231" y="3991991"/>
                </a:lnTo>
                <a:lnTo>
                  <a:pt x="0" y="3991991"/>
                </a:lnTo>
                <a:close/>
              </a:path>
            </a:pathLst>
          </a:cu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3D8C3EC0-E084-48BE-A8A8-DB7515600F91}"/>
              </a:ext>
            </a:extLst>
          </p:cNvPr>
          <p:cNvSpPr>
            <a:spLocks noGrp="1"/>
          </p:cNvSpPr>
          <p:nvPr/>
        </p:nvSpPr>
        <p:spPr>
          <a:xfrm>
            <a:off x="10588752" y="1535849"/>
            <a:ext cx="3968496" cy="2571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039"/>
              </a:lnSpc>
              <a:buNone/>
            </a:pPr>
            <a:r>
              <a:rPr sz="1698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STANDARDIZATION</a:t>
            </a:r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1500FA68-BEDD-4F54-B9A6-A1E79994E319}"/>
              </a:ext>
            </a:extLst>
          </p:cNvPr>
          <p:cNvSpPr>
            <a:spLocks noGrp="1"/>
          </p:cNvSpPr>
          <p:nvPr/>
        </p:nvSpPr>
        <p:spPr>
          <a:xfrm>
            <a:off x="10561320" y="1874520"/>
            <a:ext cx="6355080" cy="10954"/>
          </a:xfrm>
          <a:custGeom>
            <a:avLst/>
            <a:gdLst/>
            <a:ahLst/>
            <a:cxnLst/>
            <a:rect l="l" t="t" r="r" b="b"/>
            <a:pathLst>
              <a:path w="8473440" h="14605">
                <a:moveTo>
                  <a:pt x="0" y="0"/>
                </a:moveTo>
                <a:lnTo>
                  <a:pt x="8473440" y="0"/>
                </a:lnTo>
                <a:lnTo>
                  <a:pt x="8473440" y="14605"/>
                </a:lnTo>
                <a:lnTo>
                  <a:pt x="0" y="1460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BA72EC60-5A80-4CAE-9DCC-13E0A459C0D6}"/>
              </a:ext>
            </a:extLst>
          </p:cNvPr>
          <p:cNvSpPr>
            <a:spLocks noGrp="1"/>
          </p:cNvSpPr>
          <p:nvPr/>
        </p:nvSpPr>
        <p:spPr>
          <a:xfrm>
            <a:off x="10680192" y="2157984"/>
            <a:ext cx="6208776" cy="447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599"/>
              </a:lnSpc>
              <a:buNone/>
            </a:pPr>
            <a:r>
              <a:rPr sz="2999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z = (R - mean) / std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CA225D27-4D9F-4B1B-915C-B470913EAD8E}"/>
              </a:ext>
            </a:extLst>
          </p:cNvPr>
          <p:cNvSpPr>
            <a:spLocks noGrp="1"/>
          </p:cNvSpPr>
          <p:nvPr/>
        </p:nvSpPr>
        <p:spPr>
          <a:xfrm>
            <a:off x="10588752" y="3154680"/>
            <a:ext cx="6300216" cy="1809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462"/>
              </a:lnSpc>
              <a:buNone/>
            </a:pPr>
            <a:r>
              <a:rPr sz="1218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R: centered genre preference    mean/std: computed per genre column</a:t>
            </a:r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7D9E69D8-BF13-4F1E-9FB2-7ADEB7A1FDF4}"/>
              </a:ext>
            </a:extLst>
          </p:cNvPr>
          <p:cNvSpPr>
            <a:spLocks noGrp="1"/>
          </p:cNvSpPr>
          <p:nvPr/>
        </p:nvSpPr>
        <p:spPr>
          <a:xfrm>
            <a:off x="10189026" y="4506030"/>
            <a:ext cx="7291673" cy="2856833"/>
          </a:xfrm>
          <a:custGeom>
            <a:avLst/>
            <a:gdLst/>
            <a:ahLst/>
            <a:cxnLst/>
            <a:rect l="l" t="t" r="r" b="b"/>
            <a:pathLst>
              <a:path w="9722231" h="3809111">
                <a:moveTo>
                  <a:pt x="0" y="0"/>
                </a:moveTo>
                <a:lnTo>
                  <a:pt x="9722231" y="0"/>
                </a:lnTo>
                <a:lnTo>
                  <a:pt x="9722231" y="3809111"/>
                </a:lnTo>
                <a:lnTo>
                  <a:pt x="0" y="3809111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0ECCBFC-4D43-4D21-BC9B-D237324B9C2C}"/>
              </a:ext>
            </a:extLst>
          </p:cNvPr>
          <p:cNvSpPr>
            <a:spLocks noGrp="1"/>
          </p:cNvSpPr>
          <p:nvPr/>
        </p:nvSpPr>
        <p:spPr>
          <a:xfrm>
            <a:off x="10497312" y="4882896"/>
            <a:ext cx="5065776" cy="2190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798"/>
              </a:lnSpc>
              <a:buNone/>
            </a:pPr>
            <a:r>
              <a:rPr sz="1499" b="1">
                <a:solidFill>
                  <a:srgbClr val="141414"/>
                </a:solidFill>
                <a:latin typeface="Fira Code Bold"/>
                <a:ea typeface="Fira Code Bold"/>
                <a:cs typeface="Fira Code Bold"/>
              </a:rPr>
              <a:t>EFFECT ON SELECTED GENRES</a:t>
            </a:r>
          </a:p>
        </p:txBody>
      </p:sp>
      <p:graphicFrame>
        <p:nvGraphicFramePr>
          <p:cNvPr id="82" name="Table 35"/>
          <p:cNvGraphicFramePr/>
          <p:nvPr/>
        </p:nvGraphicFramePr>
        <p:xfrm>
          <a:off x="10483845" y="5318760"/>
          <a:ext cx="6654802" cy="1574800"/>
        </p:xfrm>
        <a:graphic>
          <a:graphicData uri="http://schemas.openxmlformats.org/drawingml/2006/table">
            <a:tbl>
              <a:tblPr/>
              <a:tblGrid>
                <a:gridCol w="1492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2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2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2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3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Genre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Before mean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Before std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After mean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After std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242424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Action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-0.102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0.345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0.000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1.000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242424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Animation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-0.004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0.600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0.000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1.000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ts val="1608"/>
                        </a:lnSpc>
                        <a:buNone/>
                      </a:pPr>
                      <a:r>
                        <a:rPr sz="1340" b="1">
                          <a:solidFill>
                            <a:srgbClr val="242424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Documentary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0.062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0.431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0.000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8"/>
                        </a:lnSpc>
                        <a:buNone/>
                      </a:pPr>
                      <a:r>
                        <a:rPr sz="1340">
                          <a:solidFill>
                            <a:srgbClr val="242424"/>
                          </a:solidFill>
                          <a:latin typeface="Fira Code"/>
                          <a:ea typeface="Fira Code"/>
                          <a:cs typeface="Fira Code"/>
                        </a:rPr>
                        <a:t>1.000</a:t>
                      </a:r>
                      <a:endParaRPr sz="1100"/>
                    </a:p>
                  </a:txBody>
                  <a:tcPr marL="36576" marR="36576" marT="36576" marB="36576">
                    <a:lnL w="4762" cmpd="sng">
                      <a:solidFill>
                        <a:srgbClr val="000000"/>
                      </a:solidFill>
                      <a:prstDash val="solid"/>
                    </a:lnL>
                    <a:lnR w="4762" cmpd="sng">
                      <a:solidFill>
                        <a:srgbClr val="000000"/>
                      </a:solidFill>
                      <a:prstDash val="solid"/>
                    </a:lnR>
                    <a:lnT w="4762" cmpd="sng">
                      <a:solidFill>
                        <a:srgbClr val="000000"/>
                      </a:solidFill>
                      <a:prstDash val="solid"/>
                    </a:lnT>
                    <a:lnB w="4762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Freeform 37">
            <a:extLst>
              <a:ext uri="{FF2B5EF4-FFF2-40B4-BE49-F238E27FC236}">
                <a16:creationId xmlns:a16="http://schemas.microsoft.com/office/drawing/2014/main" id="{FEF3A0A5-4568-4786-9D9E-21CBB6B5F99E}"/>
              </a:ext>
            </a:extLst>
          </p:cNvPr>
          <p:cNvSpPr>
            <a:spLocks noGrp="1"/>
          </p:cNvSpPr>
          <p:nvPr/>
        </p:nvSpPr>
        <p:spPr>
          <a:xfrm>
            <a:off x="1013012" y="8017316"/>
            <a:ext cx="16069913" cy="772001"/>
          </a:xfrm>
          <a:custGeom>
            <a:avLst/>
            <a:gdLst/>
            <a:ahLst/>
            <a:cxnLst/>
            <a:rect l="l" t="t" r="r" b="b"/>
            <a:pathLst>
              <a:path w="21426551" h="1029335">
                <a:moveTo>
                  <a:pt x="0" y="0"/>
                </a:moveTo>
                <a:lnTo>
                  <a:pt x="21426551" y="0"/>
                </a:lnTo>
                <a:lnTo>
                  <a:pt x="21426551" y="1029335"/>
                </a:lnTo>
                <a:lnTo>
                  <a:pt x="0" y="1029335"/>
                </a:lnTo>
                <a:close/>
              </a:path>
            </a:pathLst>
          </a:cu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2C045BF2-319A-405D-813F-BB71428DF054}"/>
              </a:ext>
            </a:extLst>
          </p:cNvPr>
          <p:cNvSpPr>
            <a:spLocks noGrp="1"/>
          </p:cNvSpPr>
          <p:nvPr/>
        </p:nvSpPr>
        <p:spPr>
          <a:xfrm>
            <a:off x="1353312" y="8294370"/>
            <a:ext cx="3511296" cy="228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954"/>
              </a:lnSpc>
              <a:buNone/>
            </a:pPr>
            <a:r>
              <a:rPr sz="1629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RAW USER-GENRE MATRIX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4CAFEA3-89CE-4EB2-9011-21EDFC5C9AA1}"/>
              </a:ext>
            </a:extLst>
          </p:cNvPr>
          <p:cNvSpPr>
            <a:spLocks noGrp="1"/>
          </p:cNvSpPr>
          <p:nvPr/>
        </p:nvSpPr>
        <p:spPr>
          <a:xfrm>
            <a:off x="5156511" y="8246174"/>
            <a:ext cx="354806" cy="3333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795"/>
              </a:lnSpc>
              <a:buNone/>
            </a:pPr>
            <a:r>
              <a:rPr sz="2328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⟶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D549B14F-08F1-4BBE-BB6E-2C3F4A1D23DC}"/>
              </a:ext>
            </a:extLst>
          </p:cNvPr>
          <p:cNvSpPr>
            <a:spLocks noGrp="1"/>
          </p:cNvSpPr>
          <p:nvPr/>
        </p:nvSpPr>
        <p:spPr>
          <a:xfrm>
            <a:off x="5678424" y="8294370"/>
            <a:ext cx="3145536" cy="228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954"/>
              </a:lnSpc>
              <a:buNone/>
            </a:pPr>
            <a:r>
              <a:rPr sz="1629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STANDARDSCALER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927AAF5C-1FDF-4701-9B51-300D00CF2947}"/>
              </a:ext>
            </a:extLst>
          </p:cNvPr>
          <p:cNvSpPr>
            <a:spLocks noGrp="1"/>
          </p:cNvSpPr>
          <p:nvPr/>
        </p:nvSpPr>
        <p:spPr>
          <a:xfrm>
            <a:off x="9047978" y="8246174"/>
            <a:ext cx="354902" cy="3333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796"/>
              </a:lnSpc>
              <a:buNone/>
            </a:pPr>
            <a:r>
              <a:rPr sz="233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⟶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AE83396D-EFC0-457D-8ADE-4C10AA6FCE5F}"/>
              </a:ext>
            </a:extLst>
          </p:cNvPr>
          <p:cNvSpPr>
            <a:spLocks noGrp="1"/>
          </p:cNvSpPr>
          <p:nvPr/>
        </p:nvSpPr>
        <p:spPr>
          <a:xfrm>
            <a:off x="9582912" y="8294370"/>
            <a:ext cx="3145536" cy="228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954"/>
              </a:lnSpc>
              <a:buNone/>
            </a:pPr>
            <a:r>
              <a:rPr sz="1629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SCALED MATRIX Z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C27B4927-E32F-4A10-A160-7F33737A1FF8}"/>
              </a:ext>
            </a:extLst>
          </p:cNvPr>
          <p:cNvSpPr>
            <a:spLocks noGrp="1"/>
          </p:cNvSpPr>
          <p:nvPr/>
        </p:nvSpPr>
        <p:spPr>
          <a:xfrm>
            <a:off x="13104209" y="8241982"/>
            <a:ext cx="354902" cy="3333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796"/>
              </a:lnSpc>
              <a:buNone/>
            </a:pPr>
            <a:r>
              <a:rPr sz="2330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⟶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C7D15D21-8A02-4FA8-8654-4924584BF50D}"/>
              </a:ext>
            </a:extLst>
          </p:cNvPr>
          <p:cNvSpPr>
            <a:spLocks noGrp="1"/>
          </p:cNvSpPr>
          <p:nvPr/>
        </p:nvSpPr>
        <p:spPr>
          <a:xfrm>
            <a:off x="13834872" y="8294370"/>
            <a:ext cx="2642616" cy="228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954"/>
              </a:lnSpc>
              <a:buNone/>
            </a:pPr>
            <a:r>
              <a:rPr sz="1629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K-MEANS</a:t>
            </a:r>
          </a:p>
        </p:txBody>
      </p:sp>
      <p:sp>
        <p:nvSpPr>
          <p:cNvPr id="47" name="Hình chữ nhật 46">
            <a:extLst>
              <a:ext uri="{FF2B5EF4-FFF2-40B4-BE49-F238E27FC236}">
                <a16:creationId xmlns:a16="http://schemas.microsoft.com/office/drawing/2014/main" id="{627C7D58-7C66-4C0C-9487-F4ECD4EB63CD}"/>
              </a:ext>
            </a:extLst>
          </p:cNvPr>
          <p:cNvSpPr>
            <a:spLocks noGrp="1"/>
          </p:cNvSpPr>
          <p:nvPr/>
        </p:nvSpPr>
        <p:spPr>
          <a:xfrm>
            <a:off x="1013012" y="143675"/>
            <a:ext cx="104775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lang="en-US" sz="7200" b="0" dirty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FEATURE SCALING</a:t>
            </a:r>
          </a:p>
        </p:txBody>
      </p:sp>
      <p:sp>
        <p:nvSpPr>
          <p:cNvPr id="48" name="Đường nối Thẳng 47">
            <a:extLst>
              <a:ext uri="{FF2B5EF4-FFF2-40B4-BE49-F238E27FC236}">
                <a16:creationId xmlns:a16="http://schemas.microsoft.com/office/drawing/2014/main" id="{2B94C46C-05CB-4B7A-9E11-DF6C6E05F973}"/>
              </a:ext>
            </a:extLst>
          </p:cNvPr>
          <p:cNvSpPr>
            <a:spLocks noGrp="1"/>
          </p:cNvSpPr>
          <p:nvPr/>
        </p:nvSpPr>
        <p:spPr>
          <a:xfrm>
            <a:off x="1013012" y="1388327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50" name="Hình chữ nhật 49">
            <a:extLst>
              <a:ext uri="{FF2B5EF4-FFF2-40B4-BE49-F238E27FC236}">
                <a16:creationId xmlns:a16="http://schemas.microsoft.com/office/drawing/2014/main" id="{1A735274-3708-4C3A-905D-F3696C5BA2F7}"/>
              </a:ext>
            </a:extLst>
          </p:cNvPr>
          <p:cNvSpPr>
            <a:spLocks noGrp="1"/>
          </p:cNvSpPr>
          <p:nvPr/>
        </p:nvSpPr>
        <p:spPr>
          <a:xfrm>
            <a:off x="1076325" y="3400425"/>
            <a:ext cx="1685925" cy="9048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1" name="Hình chữ nhật 50">
            <a:extLst>
              <a:ext uri="{FF2B5EF4-FFF2-40B4-BE49-F238E27FC236}">
                <a16:creationId xmlns:a16="http://schemas.microsoft.com/office/drawing/2014/main" id="{4D7DBA10-6534-4E36-AB00-CB4B522AE2FC}"/>
              </a:ext>
            </a:extLst>
          </p:cNvPr>
          <p:cNvSpPr>
            <a:spLocks noGrp="1"/>
          </p:cNvSpPr>
          <p:nvPr/>
        </p:nvSpPr>
        <p:spPr>
          <a:xfrm>
            <a:off x="1133475" y="3495675"/>
            <a:ext cx="76200" cy="257175"/>
          </a:xfrm>
          <a:prstGeom prst="rect">
            <a:avLst/>
          </a:prstGeom>
          <a:solidFill>
            <a:srgbClr val="5E46AA"/>
          </a:solidFill>
          <a:ln w="0">
            <a:noFill/>
            <a:prstDash val="solid"/>
          </a:ln>
        </p:spPr>
      </p:sp>
      <p:sp>
        <p:nvSpPr>
          <p:cNvPr id="52" name="Hình chữ nhật 51">
            <a:extLst>
              <a:ext uri="{FF2B5EF4-FFF2-40B4-BE49-F238E27FC236}">
                <a16:creationId xmlns:a16="http://schemas.microsoft.com/office/drawing/2014/main" id="{252F0932-C88D-4EE0-B542-972E724CDF74}"/>
              </a:ext>
            </a:extLst>
          </p:cNvPr>
          <p:cNvSpPr>
            <a:spLocks noGrp="1"/>
          </p:cNvSpPr>
          <p:nvPr/>
        </p:nvSpPr>
        <p:spPr>
          <a:xfrm>
            <a:off x="1352550" y="3486150"/>
            <a:ext cx="13239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WHY</a:t>
            </a:r>
          </a:p>
        </p:txBody>
      </p:sp>
      <p:sp>
        <p:nvSpPr>
          <p:cNvPr id="53" name="Hình chữ nhật 52">
            <a:extLst>
              <a:ext uri="{FF2B5EF4-FFF2-40B4-BE49-F238E27FC236}">
                <a16:creationId xmlns:a16="http://schemas.microsoft.com/office/drawing/2014/main" id="{96958216-A932-4CEC-B06B-3AC62B352CB8}"/>
              </a:ext>
            </a:extLst>
          </p:cNvPr>
          <p:cNvSpPr>
            <a:spLocks noGrp="1"/>
          </p:cNvSpPr>
          <p:nvPr/>
        </p:nvSpPr>
        <p:spPr>
          <a:xfrm>
            <a:off x="1076325" y="4629150"/>
            <a:ext cx="1685925" cy="9048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4" name="Hình chữ nhật 53">
            <a:extLst>
              <a:ext uri="{FF2B5EF4-FFF2-40B4-BE49-F238E27FC236}">
                <a16:creationId xmlns:a16="http://schemas.microsoft.com/office/drawing/2014/main" id="{C837B107-BAD6-4AD3-91D3-DD93A43AA0A6}"/>
              </a:ext>
            </a:extLst>
          </p:cNvPr>
          <p:cNvSpPr>
            <a:spLocks noGrp="1"/>
          </p:cNvSpPr>
          <p:nvPr/>
        </p:nvSpPr>
        <p:spPr>
          <a:xfrm>
            <a:off x="1133475" y="4724400"/>
            <a:ext cx="76200" cy="257175"/>
          </a:xfrm>
          <a:prstGeom prst="rect">
            <a:avLst/>
          </a:prstGeom>
          <a:solidFill>
            <a:srgbClr val="5E46AA"/>
          </a:solidFill>
          <a:ln w="0">
            <a:noFill/>
            <a:prstDash val="solid"/>
          </a:ln>
        </p:spPr>
      </p:sp>
      <p:sp>
        <p:nvSpPr>
          <p:cNvPr id="55" name="Hình chữ nhật 54">
            <a:extLst>
              <a:ext uri="{FF2B5EF4-FFF2-40B4-BE49-F238E27FC236}">
                <a16:creationId xmlns:a16="http://schemas.microsoft.com/office/drawing/2014/main" id="{4B13A238-DFF5-470C-AC1F-7C1AF2EDA260}"/>
              </a:ext>
            </a:extLst>
          </p:cNvPr>
          <p:cNvSpPr>
            <a:spLocks noGrp="1"/>
          </p:cNvSpPr>
          <p:nvPr/>
        </p:nvSpPr>
        <p:spPr>
          <a:xfrm>
            <a:off x="1352550" y="4714875"/>
            <a:ext cx="13239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9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HOW</a:t>
            </a:r>
          </a:p>
        </p:txBody>
      </p:sp>
      <p:sp>
        <p:nvSpPr>
          <p:cNvPr id="56" name="Hình chữ nhật 55">
            <a:extLst>
              <a:ext uri="{FF2B5EF4-FFF2-40B4-BE49-F238E27FC236}">
                <a16:creationId xmlns:a16="http://schemas.microsoft.com/office/drawing/2014/main" id="{31EA1441-5061-4525-85E8-3918D6A0B95C}"/>
              </a:ext>
            </a:extLst>
          </p:cNvPr>
          <p:cNvSpPr>
            <a:spLocks noGrp="1"/>
          </p:cNvSpPr>
          <p:nvPr/>
        </p:nvSpPr>
        <p:spPr>
          <a:xfrm>
            <a:off x="1076325" y="5848350"/>
            <a:ext cx="1685925" cy="9048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7" name="Hình chữ nhật 56">
            <a:extLst>
              <a:ext uri="{FF2B5EF4-FFF2-40B4-BE49-F238E27FC236}">
                <a16:creationId xmlns:a16="http://schemas.microsoft.com/office/drawing/2014/main" id="{B2374D96-B69C-44BD-AE5E-1BC2273D8FA0}"/>
              </a:ext>
            </a:extLst>
          </p:cNvPr>
          <p:cNvSpPr>
            <a:spLocks noGrp="1"/>
          </p:cNvSpPr>
          <p:nvPr/>
        </p:nvSpPr>
        <p:spPr>
          <a:xfrm>
            <a:off x="1133475" y="5943600"/>
            <a:ext cx="76200" cy="257175"/>
          </a:xfrm>
          <a:prstGeom prst="rect">
            <a:avLst/>
          </a:prstGeom>
          <a:solidFill>
            <a:srgbClr val="3B8FCC"/>
          </a:solidFill>
          <a:ln w="0">
            <a:noFill/>
            <a:prstDash val="solid"/>
          </a:ln>
        </p:spPr>
      </p:sp>
      <p:sp>
        <p:nvSpPr>
          <p:cNvPr id="58" name="Hình chữ nhật 57">
            <a:extLst>
              <a:ext uri="{FF2B5EF4-FFF2-40B4-BE49-F238E27FC236}">
                <a16:creationId xmlns:a16="http://schemas.microsoft.com/office/drawing/2014/main" id="{D1154484-322B-403B-A70A-1600A57ACEE1}"/>
              </a:ext>
            </a:extLst>
          </p:cNvPr>
          <p:cNvSpPr>
            <a:spLocks noGrp="1"/>
          </p:cNvSpPr>
          <p:nvPr/>
        </p:nvSpPr>
        <p:spPr>
          <a:xfrm>
            <a:off x="1352550" y="5934075"/>
            <a:ext cx="132397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72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OUTCOME</a:t>
            </a:r>
          </a:p>
        </p:txBody>
      </p:sp>
    </p:spTree>
    <p:extLst>
      <p:ext uri="{BB962C8B-B14F-4D97-AF65-F5344CB8AC3E}">
        <p14:creationId xmlns:p14="http://schemas.microsoft.com/office/powerpoint/2010/main" val="26499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headline">
            <a:extLst>
              <a:ext uri="{FF2B5EF4-FFF2-40B4-BE49-F238E27FC236}">
                <a16:creationId xmlns:a16="http://schemas.microsoft.com/office/drawing/2014/main" id="{448E1BAE-A837-43A8-AB0D-4910771E47BB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K-MEANS CLUSTERING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3C1F5F87-BC1F-4BDD-BA4D-A550CF9876AF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2FD768B-69D0-4B4F-8E4B-9F28BCD8CAD2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7ABC54B8-1199-45B8-A2BA-DC7E4E6A7CE4}"/>
              </a:ext>
            </a:extLst>
          </p:cNvPr>
          <p:cNvSpPr>
            <a:spLocks noGrp="1"/>
          </p:cNvSpPr>
          <p:nvPr/>
        </p:nvSpPr>
        <p:spPr>
          <a:xfrm>
            <a:off x="1095375" y="2762250"/>
            <a:ext cx="12858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0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0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01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3018BC85-EC5C-4035-B212-0D6AA06B696C}"/>
              </a:ext>
            </a:extLst>
          </p:cNvPr>
          <p:cNvSpPr>
            <a:spLocks noGrp="1"/>
          </p:cNvSpPr>
          <p:nvPr/>
        </p:nvSpPr>
        <p:spPr>
          <a:xfrm>
            <a:off x="2571750" y="2781300"/>
            <a:ext cx="136207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7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7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CHOOSE K CENTROIDS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1774BB27-8764-40FB-A620-BF1BEBDF04A0}"/>
              </a:ext>
            </a:extLst>
          </p:cNvPr>
          <p:cNvSpPr>
            <a:spLocks noGrp="1"/>
          </p:cNvSpPr>
          <p:nvPr/>
        </p:nvSpPr>
        <p:spPr>
          <a:xfrm>
            <a:off x="2590800" y="3457575"/>
            <a:ext cx="13716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2175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For each candidate K, fit K-Means to the scaled user vectors.</a:t>
            </a:r>
          </a:p>
        </p:txBody>
      </p:sp>
      <p:sp>
        <p:nvSpPr>
          <p:cNvPr id="7" name="Đường nối Thẳng 6">
            <a:extLst>
              <a:ext uri="{FF2B5EF4-FFF2-40B4-BE49-F238E27FC236}">
                <a16:creationId xmlns:a16="http://schemas.microsoft.com/office/drawing/2014/main" id="{A85B81B5-B3E9-4F67-A253-C4932D2D605B}"/>
              </a:ext>
            </a:extLst>
          </p:cNvPr>
          <p:cNvSpPr>
            <a:spLocks noGrp="1"/>
          </p:cNvSpPr>
          <p:nvPr/>
        </p:nvSpPr>
        <p:spPr>
          <a:xfrm>
            <a:off x="1000125" y="431482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56CC2D82-A644-4300-B784-1CB792D58ED4}"/>
              </a:ext>
            </a:extLst>
          </p:cNvPr>
          <p:cNvSpPr>
            <a:spLocks noGrp="1"/>
          </p:cNvSpPr>
          <p:nvPr/>
        </p:nvSpPr>
        <p:spPr>
          <a:xfrm>
            <a:off x="1095375" y="4572000"/>
            <a:ext cx="12858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0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0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02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33F5742B-DFD9-48C7-A5BD-1D5F863DDEE7}"/>
              </a:ext>
            </a:extLst>
          </p:cNvPr>
          <p:cNvSpPr>
            <a:spLocks noGrp="1"/>
          </p:cNvSpPr>
          <p:nvPr/>
        </p:nvSpPr>
        <p:spPr>
          <a:xfrm>
            <a:off x="2571750" y="4591050"/>
            <a:ext cx="136207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7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7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ASSIGN USERS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3A71EA0F-AFA2-4CA5-BE31-FEEFB129C3F4}"/>
              </a:ext>
            </a:extLst>
          </p:cNvPr>
          <p:cNvSpPr>
            <a:spLocks noGrp="1"/>
          </p:cNvSpPr>
          <p:nvPr/>
        </p:nvSpPr>
        <p:spPr>
          <a:xfrm>
            <a:off x="2590800" y="5267325"/>
            <a:ext cx="13716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2175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Place each user with the nearest centroid by Euclidean distance.</a:t>
            </a:r>
          </a:p>
        </p:txBody>
      </p:sp>
      <p:sp>
        <p:nvSpPr>
          <p:cNvPr id="11" name="Đường nối Thẳng 10">
            <a:extLst>
              <a:ext uri="{FF2B5EF4-FFF2-40B4-BE49-F238E27FC236}">
                <a16:creationId xmlns:a16="http://schemas.microsoft.com/office/drawing/2014/main" id="{DD3448FF-D579-44DD-A393-07BD8E1917D6}"/>
              </a:ext>
            </a:extLst>
          </p:cNvPr>
          <p:cNvSpPr>
            <a:spLocks noGrp="1"/>
          </p:cNvSpPr>
          <p:nvPr/>
        </p:nvSpPr>
        <p:spPr>
          <a:xfrm>
            <a:off x="1000125" y="612457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EB049A6E-2BE4-4904-B7E0-7B6EB4D47F77}"/>
              </a:ext>
            </a:extLst>
          </p:cNvPr>
          <p:cNvSpPr>
            <a:spLocks noGrp="1"/>
          </p:cNvSpPr>
          <p:nvPr/>
        </p:nvSpPr>
        <p:spPr>
          <a:xfrm>
            <a:off x="1095375" y="6381750"/>
            <a:ext cx="12858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0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0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03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D9796BCA-EE26-4631-8451-46BB00F11388}"/>
              </a:ext>
            </a:extLst>
          </p:cNvPr>
          <p:cNvSpPr>
            <a:spLocks noGrp="1"/>
          </p:cNvSpPr>
          <p:nvPr/>
        </p:nvSpPr>
        <p:spPr>
          <a:xfrm>
            <a:off x="2571750" y="6400800"/>
            <a:ext cx="136207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7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7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UPDATE CENTROIDS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826438DC-10FB-4406-ABE3-A9956B6CDE28}"/>
              </a:ext>
            </a:extLst>
          </p:cNvPr>
          <p:cNvSpPr>
            <a:spLocks noGrp="1"/>
          </p:cNvSpPr>
          <p:nvPr/>
        </p:nvSpPr>
        <p:spPr>
          <a:xfrm>
            <a:off x="2590800" y="7077075"/>
            <a:ext cx="13716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2175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Use the mean of the members in each cluster; repeat until stable.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7C93D8A6-D5E7-40A3-B6E0-28F1CCF1EA83}"/>
              </a:ext>
            </a:extLst>
          </p:cNvPr>
          <p:cNvSpPr>
            <a:spLocks noGrp="1"/>
          </p:cNvSpPr>
          <p:nvPr/>
        </p:nvSpPr>
        <p:spPr>
          <a:xfrm>
            <a:off x="952500" y="8763000"/>
            <a:ext cx="16097250" cy="781050"/>
          </a:xfrm>
          <a:prstGeom prst="rect">
            <a:avLst/>
          </a:prstGeom>
          <a:solidFill>
            <a:srgbClr val="2B2B2B"/>
          </a:solidFill>
          <a:ln w="0">
            <a:noFill/>
            <a:prstDash val="solid"/>
          </a:ln>
        </p:spPr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80E0B177-3FE2-41B1-9C1C-67AB26E8C1BA}"/>
              </a:ext>
            </a:extLst>
          </p:cNvPr>
          <p:cNvSpPr>
            <a:spLocks noGrp="1"/>
          </p:cNvSpPr>
          <p:nvPr/>
        </p:nvSpPr>
        <p:spPr>
          <a:xfrm>
            <a:off x="1219200" y="8934450"/>
            <a:ext cx="15621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defRPr>
            </a:pPr>
            <a:r>
              <a:rPr sz="2025" b="1">
                <a:solidFill>
                  <a:srgbClr val="FFFFFF"/>
                </a:solidFill>
                <a:latin typeface="Fira Code Bold"/>
                <a:ea typeface="Fira Code Bold"/>
                <a:cs typeface="Fira Code Bold"/>
              </a:rPr>
              <a:t>SELECTION RUN: K = 2–14  ·  random_state = 42  ·  n_init = 10</a:t>
            </a:r>
          </a:p>
        </p:txBody>
      </p:sp>
    </p:spTree>
    <p:extLst>
      <p:ext uri="{BB962C8B-B14F-4D97-AF65-F5344CB8AC3E}">
        <p14:creationId xmlns:p14="http://schemas.microsoft.com/office/powerpoint/2010/main" val="811175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eadline">
            <a:extLst>
              <a:ext uri="{FF2B5EF4-FFF2-40B4-BE49-F238E27FC236}">
                <a16:creationId xmlns:a16="http://schemas.microsoft.com/office/drawing/2014/main" id="{F81CBB8D-9196-4C13-99B5-7F42EADE9FFE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K SELECTION: K = 5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DB9F4D3E-5433-48E2-85BE-BB3470269C0D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63028D6-E451-486C-BAFF-056BDBBF5109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0EDD0AE2-5770-4CE1-A036-50A90E3C75F4}"/>
              </a:ext>
            </a:extLst>
          </p:cNvPr>
          <p:cNvSpPr>
            <a:spLocks noGrp="1"/>
          </p:cNvSpPr>
          <p:nvPr/>
        </p:nvSpPr>
        <p:spPr>
          <a:xfrm>
            <a:off x="714375" y="2686050"/>
            <a:ext cx="10572750" cy="60483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  <a:prstDash val="solid"/>
          </a:ln>
        </p:spPr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BA39EE49-BE78-405C-A3C2-13B50440B493}"/>
              </a:ext>
            </a:extLst>
          </p:cNvPr>
          <p:cNvSpPr>
            <a:spLocks noGrp="1"/>
          </p:cNvSpPr>
          <p:nvPr/>
        </p:nvSpPr>
        <p:spPr>
          <a:xfrm>
            <a:off x="1028700" y="2876550"/>
            <a:ext cx="98107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32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MEAN SILHOUETTE ACROSS TESTED SEEDS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1143000" y="3619500"/>
          <a:ext cx="9620250" cy="4533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CA5FCEF2-3F87-43E7-A3FB-1F14A233B866}"/>
              </a:ext>
            </a:extLst>
          </p:cNvPr>
          <p:cNvSpPr>
            <a:spLocks noGrp="1"/>
          </p:cNvSpPr>
          <p:nvPr/>
        </p:nvSpPr>
        <p:spPr>
          <a:xfrm>
            <a:off x="11601450" y="2686050"/>
            <a:ext cx="6048375" cy="6048375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  <a:prstDash val="solid"/>
          </a:ln>
        </p:spPr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1130D1B6-29D5-41BB-8F66-EAF9AA94CD32}"/>
              </a:ext>
            </a:extLst>
          </p:cNvPr>
          <p:cNvSpPr>
            <a:spLocks noGrp="1"/>
          </p:cNvSpPr>
          <p:nvPr/>
        </p:nvSpPr>
        <p:spPr>
          <a:xfrm>
            <a:off x="12001500" y="2876550"/>
            <a:ext cx="523875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8795"/>
          </a:bodyPr>
          <a:lstStyle/>
          <a:p>
            <a:pPr algn="l">
              <a:defRPr sz="62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2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K = 5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495B4F6C-9D4D-48BE-8ED2-3E8DB979C59A}"/>
              </a:ext>
            </a:extLst>
          </p:cNvPr>
          <p:cNvSpPr>
            <a:spLocks noGrp="1"/>
          </p:cNvSpPr>
          <p:nvPr/>
        </p:nvSpPr>
        <p:spPr>
          <a:xfrm>
            <a:off x="12020550" y="3971925"/>
            <a:ext cx="5143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endParaRPr sz="2100" b="1" dirty="0">
              <a:solidFill>
                <a:srgbClr val="2B2B2B"/>
              </a:solidFill>
              <a:latin typeface="Fira Code Bold"/>
              <a:ea typeface="Fira Code Bold"/>
              <a:cs typeface="Fira Code Bold"/>
            </a:endParaRPr>
          </a:p>
        </p:txBody>
      </p:sp>
      <p:sp>
        <p:nvSpPr>
          <p:cNvPr id="10" name="Đường nối Thẳng 9">
            <a:extLst>
              <a:ext uri="{FF2B5EF4-FFF2-40B4-BE49-F238E27FC236}">
                <a16:creationId xmlns:a16="http://schemas.microsoft.com/office/drawing/2014/main" id="{A79FE57D-9DB9-42C2-8B0C-D0F2CBCBBC35}"/>
              </a:ext>
            </a:extLst>
          </p:cNvPr>
          <p:cNvSpPr>
            <a:spLocks noGrp="1"/>
          </p:cNvSpPr>
          <p:nvPr/>
        </p:nvSpPr>
        <p:spPr>
          <a:xfrm>
            <a:off x="12096093" y="3879303"/>
            <a:ext cx="49530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CF6BEC9D-B75C-4B3C-9661-CC44C486C709}"/>
              </a:ext>
            </a:extLst>
          </p:cNvPr>
          <p:cNvSpPr>
            <a:spLocks noGrp="1"/>
          </p:cNvSpPr>
          <p:nvPr/>
        </p:nvSpPr>
        <p:spPr>
          <a:xfrm>
            <a:off x="12001500" y="4991100"/>
            <a:ext cx="5143500" cy="18764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875" b="0" dirty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SSE                   9,430.9</a:t>
            </a:r>
          </a:p>
          <a:p>
            <a:pPr algn="l">
              <a:defRPr sz="1875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875" b="0" dirty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Mean Silhouette       0.0429</a:t>
            </a:r>
          </a:p>
          <a:p>
            <a:pPr algn="l">
              <a:defRPr sz="1875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875" b="0" dirty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Worst min. cluster     18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867363E7-5709-4738-B338-320599A007E1}"/>
              </a:ext>
            </a:extLst>
          </p:cNvPr>
          <p:cNvSpPr>
            <a:spLocks noGrp="1"/>
          </p:cNvSpPr>
          <p:nvPr/>
        </p:nvSpPr>
        <p:spPr>
          <a:xfrm>
            <a:off x="12001500" y="7105650"/>
            <a:ext cx="5143500" cy="13620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800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K = 5 balances separation with usable cluster sizes. SSE alone has no sharp elbow.</a:t>
            </a:r>
          </a:p>
        </p:txBody>
      </p:sp>
    </p:spTree>
    <p:extLst>
      <p:ext uri="{BB962C8B-B14F-4D97-AF65-F5344CB8AC3E}">
        <p14:creationId xmlns:p14="http://schemas.microsoft.com/office/powerpoint/2010/main" val="190149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headline">
            <a:extLst>
              <a:ext uri="{FF2B5EF4-FFF2-40B4-BE49-F238E27FC236}">
                <a16:creationId xmlns:a16="http://schemas.microsoft.com/office/drawing/2014/main" id="{722FE688-A163-4C17-93E9-67F58C7B4A4E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FIVE USER CLUSTERS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36870CB8-E401-41B0-8670-DD207E019737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D841A86-616F-41F2-AD6E-E19E1D98B47E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lang="en-US"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4B7B68CB-2170-4F01-BCBF-E4DE0937C8D6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7239000" cy="619125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  <a:prstDash val="solid"/>
          </a:ln>
        </p:spPr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44C5E2D2-3077-4C0F-B384-945DB4C59399}"/>
              </a:ext>
            </a:extLst>
          </p:cNvPr>
          <p:cNvSpPr>
            <a:spLocks noGrp="1"/>
          </p:cNvSpPr>
          <p:nvPr/>
        </p:nvSpPr>
        <p:spPr>
          <a:xfrm>
            <a:off x="8239125" y="2571750"/>
            <a:ext cx="9382125" cy="6191250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  <a:prstDash val="solid"/>
          </a:ln>
        </p:spPr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40574CFE-BA0F-456E-B490-C5826203457C}"/>
              </a:ext>
            </a:extLst>
          </p:cNvPr>
          <p:cNvSpPr>
            <a:spLocks noGrp="1"/>
          </p:cNvSpPr>
          <p:nvPr/>
        </p:nvSpPr>
        <p:spPr>
          <a:xfrm>
            <a:off x="1019175" y="2781300"/>
            <a:ext cx="6477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94" lnSpcReduction="10000"/>
          </a:bodyPr>
          <a:lstStyle/>
          <a:p>
            <a:pPr algn="l">
              <a:defRPr sz="24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USERS PER CLUSTER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2F296A1D-C8AF-4AAC-9291-F6C70B83F7D5}"/>
              </a:ext>
            </a:extLst>
          </p:cNvPr>
          <p:cNvSpPr>
            <a:spLocks noGrp="1"/>
          </p:cNvSpPr>
          <p:nvPr/>
        </p:nvSpPr>
        <p:spPr>
          <a:xfrm>
            <a:off x="8572500" y="2781300"/>
            <a:ext cx="8572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894" lnSpcReduction="10000"/>
          </a:bodyPr>
          <a:lstStyle/>
          <a:p>
            <a:pPr algn="l">
              <a:defRPr sz="24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CENTROID GENRE SIGNATURES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1095375" y="3352800"/>
          <a:ext cx="6429375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202819B0-C4B4-4C47-8CDB-2C1B22866F1E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C0  107 USERS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06FC44B4-5408-4374-8928-9B6357568849}"/>
              </a:ext>
            </a:extLst>
          </p:cNvPr>
          <p:cNvSpPr>
            <a:spLocks noGrp="1"/>
          </p:cNvSpPr>
          <p:nvPr/>
        </p:nvSpPr>
        <p:spPr>
          <a:xfrm>
            <a:off x="11144250" y="3429000"/>
            <a:ext cx="59055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Crime · Film-Noir · Drama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C2068D79-EB2C-44C3-B6B9-2A3048465322}"/>
              </a:ext>
            </a:extLst>
          </p:cNvPr>
          <p:cNvSpPr>
            <a:spLocks noGrp="1"/>
          </p:cNvSpPr>
          <p:nvPr/>
        </p:nvSpPr>
        <p:spPr>
          <a:xfrm>
            <a:off x="11163300" y="3838575"/>
            <a:ext cx="5857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Lower: Sci-Fi, IMAX</a:t>
            </a:r>
          </a:p>
        </p:txBody>
      </p:sp>
      <p:sp>
        <p:nvSpPr>
          <p:cNvPr id="12" name="Đường nối Thẳng 11">
            <a:extLst>
              <a:ext uri="{FF2B5EF4-FFF2-40B4-BE49-F238E27FC236}">
                <a16:creationId xmlns:a16="http://schemas.microsoft.com/office/drawing/2014/main" id="{377D97A2-7502-4659-B2A4-4822A0B22D72}"/>
              </a:ext>
            </a:extLst>
          </p:cNvPr>
          <p:cNvSpPr>
            <a:spLocks noGrp="1"/>
          </p:cNvSpPr>
          <p:nvPr/>
        </p:nvSpPr>
        <p:spPr>
          <a:xfrm>
            <a:off x="8543925" y="4324350"/>
            <a:ext cx="871537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6B013DF9-93F7-49FE-BFF8-EAB0C82CF2B9}"/>
              </a:ext>
            </a:extLst>
          </p:cNvPr>
          <p:cNvSpPr>
            <a:spLocks noGrp="1"/>
          </p:cNvSpPr>
          <p:nvPr/>
        </p:nvSpPr>
        <p:spPr>
          <a:xfrm>
            <a:off x="8572500" y="44196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C1  279 USERS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17387056-8544-4D25-9F3F-C928DD60D0F0}"/>
              </a:ext>
            </a:extLst>
          </p:cNvPr>
          <p:cNvSpPr>
            <a:spLocks noGrp="1"/>
          </p:cNvSpPr>
          <p:nvPr/>
        </p:nvSpPr>
        <p:spPr>
          <a:xfrm>
            <a:off x="11144250" y="4419600"/>
            <a:ext cx="59055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War · Animation · IMAX</a:t>
            </a:r>
          </a:p>
        </p:txBody>
      </p:sp>
      <p:sp>
        <p:nvSpPr>
          <p:cNvPr id="15" name="Hình chữ nhật 14">
            <a:extLst>
              <a:ext uri="{FF2B5EF4-FFF2-40B4-BE49-F238E27FC236}">
                <a16:creationId xmlns:a16="http://schemas.microsoft.com/office/drawing/2014/main" id="{EF43E1D2-5565-4136-854E-155C4873400C}"/>
              </a:ext>
            </a:extLst>
          </p:cNvPr>
          <p:cNvSpPr>
            <a:spLocks noGrp="1"/>
          </p:cNvSpPr>
          <p:nvPr/>
        </p:nvSpPr>
        <p:spPr>
          <a:xfrm>
            <a:off x="11163300" y="4829175"/>
            <a:ext cx="5857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Lower: Horror, Action</a:t>
            </a:r>
          </a:p>
        </p:txBody>
      </p:sp>
      <p:sp>
        <p:nvSpPr>
          <p:cNvPr id="16" name="Đường nối Thẳng 15">
            <a:extLst>
              <a:ext uri="{FF2B5EF4-FFF2-40B4-BE49-F238E27FC236}">
                <a16:creationId xmlns:a16="http://schemas.microsoft.com/office/drawing/2014/main" id="{869CAF48-E35B-4F8F-95B3-20D3B253DAE7}"/>
              </a:ext>
            </a:extLst>
          </p:cNvPr>
          <p:cNvSpPr>
            <a:spLocks noGrp="1"/>
          </p:cNvSpPr>
          <p:nvPr/>
        </p:nvSpPr>
        <p:spPr>
          <a:xfrm>
            <a:off x="8543925" y="5314950"/>
            <a:ext cx="871537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A07BA314-FC83-4652-B80E-57F3C21A6B07}"/>
              </a:ext>
            </a:extLst>
          </p:cNvPr>
          <p:cNvSpPr>
            <a:spLocks noGrp="1"/>
          </p:cNvSpPr>
          <p:nvPr/>
        </p:nvSpPr>
        <p:spPr>
          <a:xfrm>
            <a:off x="8572500" y="54102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C2  63 USERS</a:t>
            </a:r>
          </a:p>
        </p:txBody>
      </p:sp>
      <p:sp>
        <p:nvSpPr>
          <p:cNvPr id="18" name="Hình chữ nhật 17">
            <a:extLst>
              <a:ext uri="{FF2B5EF4-FFF2-40B4-BE49-F238E27FC236}">
                <a16:creationId xmlns:a16="http://schemas.microsoft.com/office/drawing/2014/main" id="{3972C769-52BD-48BC-A030-87227FA379DF}"/>
              </a:ext>
            </a:extLst>
          </p:cNvPr>
          <p:cNvSpPr>
            <a:spLocks noGrp="1"/>
          </p:cNvSpPr>
          <p:nvPr/>
        </p:nvSpPr>
        <p:spPr>
          <a:xfrm>
            <a:off x="11144250" y="5410200"/>
            <a:ext cx="59055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Fantasy · Animation · Children</a:t>
            </a:r>
          </a:p>
        </p:txBody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6A91C1D5-2C05-464E-8F6F-2196D00936A8}"/>
              </a:ext>
            </a:extLst>
          </p:cNvPr>
          <p:cNvSpPr>
            <a:spLocks noGrp="1"/>
          </p:cNvSpPr>
          <p:nvPr/>
        </p:nvSpPr>
        <p:spPr>
          <a:xfrm>
            <a:off x="11163300" y="5819775"/>
            <a:ext cx="5857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Lower: Thriller, Mystery</a:t>
            </a:r>
          </a:p>
        </p:txBody>
      </p:sp>
      <p:sp>
        <p:nvSpPr>
          <p:cNvPr id="20" name="Đường nối Thẳng 19">
            <a:extLst>
              <a:ext uri="{FF2B5EF4-FFF2-40B4-BE49-F238E27FC236}">
                <a16:creationId xmlns:a16="http://schemas.microsoft.com/office/drawing/2014/main" id="{F4135CAE-5BD0-4669-9BA9-C4E6013CE15A}"/>
              </a:ext>
            </a:extLst>
          </p:cNvPr>
          <p:cNvSpPr>
            <a:spLocks noGrp="1"/>
          </p:cNvSpPr>
          <p:nvPr/>
        </p:nvSpPr>
        <p:spPr>
          <a:xfrm>
            <a:off x="8543925" y="6305550"/>
            <a:ext cx="871537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08C4D86D-88D6-43A9-A7F1-FE7485070BB9}"/>
              </a:ext>
            </a:extLst>
          </p:cNvPr>
          <p:cNvSpPr>
            <a:spLocks noGrp="1"/>
          </p:cNvSpPr>
          <p:nvPr/>
        </p:nvSpPr>
        <p:spPr>
          <a:xfrm>
            <a:off x="8572500" y="64008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C3  25 USERS</a:t>
            </a:r>
          </a:p>
        </p:txBody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A1D10E30-6B12-4181-B4A2-FB8A72C2DE07}"/>
              </a:ext>
            </a:extLst>
          </p:cNvPr>
          <p:cNvSpPr>
            <a:spLocks noGrp="1"/>
          </p:cNvSpPr>
          <p:nvPr/>
        </p:nvSpPr>
        <p:spPr>
          <a:xfrm>
            <a:off x="11144250" y="6400800"/>
            <a:ext cx="59055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War · Drama · Mystery</a:t>
            </a:r>
          </a:p>
        </p:txBody>
      </p:sp>
      <p:sp>
        <p:nvSpPr>
          <p:cNvPr id="23" name="Hình chữ nhật 22">
            <a:extLst>
              <a:ext uri="{FF2B5EF4-FFF2-40B4-BE49-F238E27FC236}">
                <a16:creationId xmlns:a16="http://schemas.microsoft.com/office/drawing/2014/main" id="{24E48051-C405-453E-88E0-BE070523F9EA}"/>
              </a:ext>
            </a:extLst>
          </p:cNvPr>
          <p:cNvSpPr>
            <a:spLocks noGrp="1"/>
          </p:cNvSpPr>
          <p:nvPr/>
        </p:nvSpPr>
        <p:spPr>
          <a:xfrm>
            <a:off x="11163300" y="6810375"/>
            <a:ext cx="5857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Lower: Animation, Children</a:t>
            </a:r>
          </a:p>
        </p:txBody>
      </p:sp>
      <p:sp>
        <p:nvSpPr>
          <p:cNvPr id="24" name="Đường nối Thẳng 23">
            <a:extLst>
              <a:ext uri="{FF2B5EF4-FFF2-40B4-BE49-F238E27FC236}">
                <a16:creationId xmlns:a16="http://schemas.microsoft.com/office/drawing/2014/main" id="{00327B84-1204-4DAA-BD76-14161CCCDC31}"/>
              </a:ext>
            </a:extLst>
          </p:cNvPr>
          <p:cNvSpPr>
            <a:spLocks noGrp="1"/>
          </p:cNvSpPr>
          <p:nvPr/>
        </p:nvSpPr>
        <p:spPr>
          <a:xfrm>
            <a:off x="8543925" y="7296150"/>
            <a:ext cx="8715375" cy="0"/>
          </a:xfrm>
          <a:prstGeom prst="line">
            <a:avLst/>
          </a:prstGeom>
          <a:noFill/>
          <a:ln w="9525">
            <a:solidFill>
              <a:srgbClr val="D0D0D0"/>
            </a:solidFill>
            <a:prstDash val="solid"/>
          </a:ln>
        </p:spPr>
      </p:sp>
      <p:sp>
        <p:nvSpPr>
          <p:cNvPr id="25" name="Hình chữ nhật 24">
            <a:extLst>
              <a:ext uri="{FF2B5EF4-FFF2-40B4-BE49-F238E27FC236}">
                <a16:creationId xmlns:a16="http://schemas.microsoft.com/office/drawing/2014/main" id="{E5262F81-0417-4A45-973E-B0759E2359DA}"/>
              </a:ext>
            </a:extLst>
          </p:cNvPr>
          <p:cNvSpPr>
            <a:spLocks noGrp="1"/>
          </p:cNvSpPr>
          <p:nvPr/>
        </p:nvSpPr>
        <p:spPr>
          <a:xfrm>
            <a:off x="8572500" y="7391400"/>
            <a:ext cx="26193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75" b="1">
                <a:solidFill>
                  <a:srgbClr val="5E46AA"/>
                </a:solidFill>
                <a:latin typeface="Fira Code Bold"/>
                <a:ea typeface="Fira Code Bold"/>
                <a:cs typeface="Fira Code Bold"/>
              </a:rPr>
              <a:t>C4  136 USERS</a:t>
            </a:r>
          </a:p>
        </p:txBody>
      </p:sp>
      <p:sp>
        <p:nvSpPr>
          <p:cNvPr id="26" name="Hình chữ nhật 25">
            <a:extLst>
              <a:ext uri="{FF2B5EF4-FFF2-40B4-BE49-F238E27FC236}">
                <a16:creationId xmlns:a16="http://schemas.microsoft.com/office/drawing/2014/main" id="{04918B3C-6E09-4153-B77D-E141DD99EE05}"/>
              </a:ext>
            </a:extLst>
          </p:cNvPr>
          <p:cNvSpPr>
            <a:spLocks noGrp="1"/>
          </p:cNvSpPr>
          <p:nvPr/>
        </p:nvSpPr>
        <p:spPr>
          <a:xfrm>
            <a:off x="11144250" y="7391400"/>
            <a:ext cx="590550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18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Mystery · Thriller · IMAX</a:t>
            </a:r>
          </a:p>
        </p:txBody>
      </p:sp>
      <p:sp>
        <p:nvSpPr>
          <p:cNvPr id="27" name="Hình chữ nhật 26">
            <a:extLst>
              <a:ext uri="{FF2B5EF4-FFF2-40B4-BE49-F238E27FC236}">
                <a16:creationId xmlns:a16="http://schemas.microsoft.com/office/drawing/2014/main" id="{F8B9C6ED-9495-4B28-B71F-B2C79F9917A0}"/>
              </a:ext>
            </a:extLst>
          </p:cNvPr>
          <p:cNvSpPr>
            <a:spLocks noGrp="1"/>
          </p:cNvSpPr>
          <p:nvPr/>
        </p:nvSpPr>
        <p:spPr>
          <a:xfrm>
            <a:off x="11163300" y="7800975"/>
            <a:ext cx="58578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500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Lower: Children, Musical</a:t>
            </a:r>
          </a:p>
        </p:txBody>
      </p:sp>
      <p:sp>
        <p:nvSpPr>
          <p:cNvPr id="28" name="Hình chữ nhật 27">
            <a:extLst>
              <a:ext uri="{FF2B5EF4-FFF2-40B4-BE49-F238E27FC236}">
                <a16:creationId xmlns:a16="http://schemas.microsoft.com/office/drawing/2014/main" id="{2AB2A344-99A5-4826-95B6-7EA836B88C6E}"/>
              </a:ext>
            </a:extLst>
          </p:cNvPr>
          <p:cNvSpPr>
            <a:spLocks noGrp="1"/>
          </p:cNvSpPr>
          <p:nvPr/>
        </p:nvSpPr>
        <p:spPr>
          <a:xfrm>
            <a:off x="857250" y="9105900"/>
            <a:ext cx="164782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800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Genre preferences are centered on each user’s own average rating.</a:t>
            </a:r>
          </a:p>
        </p:txBody>
      </p:sp>
    </p:spTree>
    <p:extLst>
      <p:ext uri="{BB962C8B-B14F-4D97-AF65-F5344CB8AC3E}">
        <p14:creationId xmlns:p14="http://schemas.microsoft.com/office/powerpoint/2010/main" val="1160336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headline">
            <a:extLst>
              <a:ext uri="{FF2B5EF4-FFF2-40B4-BE49-F238E27FC236}">
                <a16:creationId xmlns:a16="http://schemas.microsoft.com/office/drawing/2014/main" id="{5E5F476B-DE7F-49C1-A7ED-5589254C70CB}"/>
              </a:ext>
            </a:extLst>
          </p:cNvPr>
          <p:cNvSpPr>
            <a:spLocks noGrp="1"/>
          </p:cNvSpPr>
          <p:nvPr/>
        </p:nvSpPr>
        <p:spPr>
          <a:xfrm>
            <a:off x="1047750" y="53340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 dirty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K = 5: MODEL EVALUATION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50ED4B20-A8DB-4AF3-B39B-A378E2C3FA13}"/>
              </a:ext>
            </a:extLst>
          </p:cNvPr>
          <p:cNvSpPr>
            <a:spLocks noGrp="1"/>
          </p:cNvSpPr>
          <p:nvPr/>
        </p:nvSpPr>
        <p:spPr>
          <a:xfrm>
            <a:off x="1047750" y="164782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F1DABFC-804C-4542-8013-1FA1A9441F4B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0776F657-1C5F-4BAB-99B0-F87DBA87C064}"/>
              </a:ext>
            </a:extLst>
          </p:cNvPr>
          <p:cNvSpPr>
            <a:spLocks noGrp="1"/>
          </p:cNvSpPr>
          <p:nvPr/>
        </p:nvSpPr>
        <p:spPr>
          <a:xfrm>
            <a:off x="1047750" y="3019425"/>
            <a:ext cx="514350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5625" b="0">
                <a:solidFill>
                  <a:srgbClr val="D62728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5625" b="0">
                <a:solidFill>
                  <a:srgbClr val="D62728"/>
                </a:solidFill>
                <a:latin typeface="RQND Pro Condensed"/>
                <a:ea typeface="RQND Pro Condensed"/>
                <a:cs typeface="RQND Pro Condensed"/>
              </a:rPr>
              <a:t>0.0638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7240FC96-26F2-4066-BA35-DEA0CD54E07A}"/>
              </a:ext>
            </a:extLst>
          </p:cNvPr>
          <p:cNvSpPr>
            <a:spLocks noGrp="1"/>
          </p:cNvSpPr>
          <p:nvPr/>
        </p:nvSpPr>
        <p:spPr>
          <a:xfrm>
            <a:off x="1047750" y="4276725"/>
            <a:ext cx="514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SILHOUETTE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28AC2FEC-FF6B-468A-9742-7FF1542EC30E}"/>
              </a:ext>
            </a:extLst>
          </p:cNvPr>
          <p:cNvSpPr>
            <a:spLocks noGrp="1"/>
          </p:cNvSpPr>
          <p:nvPr/>
        </p:nvSpPr>
        <p:spPr>
          <a:xfrm>
            <a:off x="1047750" y="487680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725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Single run; weak separation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4FBAD9E2-28EF-47D8-9D7D-E49040F8AE60}"/>
              </a:ext>
            </a:extLst>
          </p:cNvPr>
          <p:cNvSpPr>
            <a:spLocks noGrp="1"/>
          </p:cNvSpPr>
          <p:nvPr/>
        </p:nvSpPr>
        <p:spPr>
          <a:xfrm>
            <a:off x="6334125" y="2981325"/>
            <a:ext cx="19050" cy="2571750"/>
          </a:xfrm>
          <a:prstGeom prst="rect">
            <a:avLst/>
          </a:prstGeom>
          <a:solidFill>
            <a:srgbClr val="B9B9B9"/>
          </a:solidFill>
          <a:ln w="0">
            <a:noFill/>
            <a:prstDash val="solid"/>
          </a:ln>
        </p:spPr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8DCE5B44-B4FF-4E9E-AE5A-58B33C71D124}"/>
              </a:ext>
            </a:extLst>
          </p:cNvPr>
          <p:cNvSpPr>
            <a:spLocks noGrp="1"/>
          </p:cNvSpPr>
          <p:nvPr/>
        </p:nvSpPr>
        <p:spPr>
          <a:xfrm>
            <a:off x="6619875" y="3019425"/>
            <a:ext cx="514350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56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56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2.6753</a:t>
            </a:r>
          </a:p>
        </p:txBody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D849D73C-9B5E-4DF2-91F7-281679578CCF}"/>
              </a:ext>
            </a:extLst>
          </p:cNvPr>
          <p:cNvSpPr>
            <a:spLocks noGrp="1"/>
          </p:cNvSpPr>
          <p:nvPr/>
        </p:nvSpPr>
        <p:spPr>
          <a:xfrm>
            <a:off x="6619875" y="4276725"/>
            <a:ext cx="514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DAVIES–BOULDIN</a:t>
            </a:r>
          </a:p>
        </p:txBody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980E00F0-56F3-4F62-8F4B-A3A2185A51A2}"/>
              </a:ext>
            </a:extLst>
          </p:cNvPr>
          <p:cNvSpPr>
            <a:spLocks noGrp="1"/>
          </p:cNvSpPr>
          <p:nvPr/>
        </p:nvSpPr>
        <p:spPr>
          <a:xfrm>
            <a:off x="6619875" y="487680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725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Single run; lower is better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36CF4995-40B2-4D11-9F9C-FFD162A4C4B9}"/>
              </a:ext>
            </a:extLst>
          </p:cNvPr>
          <p:cNvSpPr>
            <a:spLocks noGrp="1"/>
          </p:cNvSpPr>
          <p:nvPr/>
        </p:nvSpPr>
        <p:spPr>
          <a:xfrm>
            <a:off x="11906250" y="2981325"/>
            <a:ext cx="19050" cy="2571750"/>
          </a:xfrm>
          <a:prstGeom prst="rect">
            <a:avLst/>
          </a:prstGeom>
          <a:solidFill>
            <a:srgbClr val="B9B9B9"/>
          </a:solidFill>
          <a:ln w="0">
            <a:noFill/>
            <a:prstDash val="solid"/>
          </a:ln>
        </p:spPr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820F49BB-4B88-41DF-ADD1-541D7CE0ED86}"/>
              </a:ext>
            </a:extLst>
          </p:cNvPr>
          <p:cNvSpPr>
            <a:spLocks noGrp="1"/>
          </p:cNvSpPr>
          <p:nvPr/>
        </p:nvSpPr>
        <p:spPr>
          <a:xfrm>
            <a:off x="12192000" y="3019425"/>
            <a:ext cx="5143500" cy="12001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56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5625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25</a:t>
            </a:r>
          </a:p>
        </p:txBody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B66BE981-B091-4212-9925-25212DC7E0D5}"/>
              </a:ext>
            </a:extLst>
          </p:cNvPr>
          <p:cNvSpPr>
            <a:spLocks noGrp="1"/>
          </p:cNvSpPr>
          <p:nvPr/>
        </p:nvSpPr>
        <p:spPr>
          <a:xfrm>
            <a:off x="12192000" y="4276725"/>
            <a:ext cx="5143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SMALLEST CLUSTER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BAC25A91-A24C-4961-B68E-32F79932A288}"/>
              </a:ext>
            </a:extLst>
          </p:cNvPr>
          <p:cNvSpPr>
            <a:spLocks noGrp="1"/>
          </p:cNvSpPr>
          <p:nvPr/>
        </p:nvSpPr>
        <p:spPr>
          <a:xfrm>
            <a:off x="12192000" y="4876800"/>
            <a:ext cx="51435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725" b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All five clusters have users</a:t>
            </a:r>
          </a:p>
        </p:txBody>
      </p:sp>
      <p:sp>
        <p:nvSpPr>
          <p:cNvPr id="15" name="Đường nối Thẳng 14">
            <a:extLst>
              <a:ext uri="{FF2B5EF4-FFF2-40B4-BE49-F238E27FC236}">
                <a16:creationId xmlns:a16="http://schemas.microsoft.com/office/drawing/2014/main" id="{5CDE4001-501C-412E-899C-8935F5393B8D}"/>
              </a:ext>
            </a:extLst>
          </p:cNvPr>
          <p:cNvSpPr>
            <a:spLocks noGrp="1"/>
          </p:cNvSpPr>
          <p:nvPr/>
        </p:nvSpPr>
        <p:spPr>
          <a:xfrm>
            <a:off x="1047750" y="5905500"/>
            <a:ext cx="16097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63302A83-8F67-42DD-9DC7-0C4D599653CE}"/>
              </a:ext>
            </a:extLst>
          </p:cNvPr>
          <p:cNvSpPr>
            <a:spLocks noGrp="1"/>
          </p:cNvSpPr>
          <p:nvPr/>
        </p:nvSpPr>
        <p:spPr>
          <a:xfrm>
            <a:off x="1047750" y="6219825"/>
            <a:ext cx="12573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970"/>
          </a:bodyPr>
          <a:lstStyle/>
          <a:p>
            <a:pPr algn="l">
              <a:defRPr sz="24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STABILITY ACROSS TESTED SEEDS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A12F4626-E6CE-4DA2-95E7-F9FAF6B533F4}"/>
              </a:ext>
            </a:extLst>
          </p:cNvPr>
          <p:cNvSpPr>
            <a:spLocks noGrp="1"/>
          </p:cNvSpPr>
          <p:nvPr/>
        </p:nvSpPr>
        <p:spPr>
          <a:xfrm>
            <a:off x="1047750" y="6905625"/>
            <a:ext cx="1581150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10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2100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Report: mean Silhouette 0.0429 ± 0.0139; worst minimum cluster size 18.</a:t>
            </a:r>
          </a:p>
          <a:p>
            <a:pPr algn="l">
              <a:defRPr sz="210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2100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Taste groups overlap, so cluster membership is an approximate segmentation.</a:t>
            </a:r>
          </a:p>
        </p:txBody>
      </p:sp>
    </p:spTree>
    <p:extLst>
      <p:ext uri="{BB962C8B-B14F-4D97-AF65-F5344CB8AC3E}">
        <p14:creationId xmlns:p14="http://schemas.microsoft.com/office/powerpoint/2010/main" val="184593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headline">
            <a:extLst>
              <a:ext uri="{FF2B5EF4-FFF2-40B4-BE49-F238E27FC236}">
                <a16:creationId xmlns:a16="http://schemas.microsoft.com/office/drawing/2014/main" id="{CF9453AD-A018-46B8-9FE2-D5861080D9D9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 dirty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CLUSTER-BASED RECOMMENDATION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498CC95D-6462-4DD6-8DA3-56CCCBD9A86A}"/>
              </a:ext>
            </a:extLst>
          </p:cNvPr>
          <p:cNvSpPr>
            <a:spLocks noGrp="1"/>
          </p:cNvSpPr>
          <p:nvPr/>
        </p:nvSpPr>
        <p:spPr>
          <a:xfrm>
            <a:off x="666749" y="1666874"/>
            <a:ext cx="10032781" cy="9525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D3F4D4E-8254-49BA-AFEE-FEA7FA5D768A}"/>
              </a:ext>
            </a:extLst>
          </p:cNvPr>
          <p:cNvSpPr>
            <a:spLocks noGrp="1"/>
          </p:cNvSpPr>
          <p:nvPr/>
        </p:nvSpPr>
        <p:spPr>
          <a:xfrm>
            <a:off x="1000125" y="2524125"/>
            <a:ext cx="1143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354" lnSpcReduction="10000"/>
          </a:bodyPr>
          <a:lstStyle/>
          <a:p>
            <a:pPr algn="l">
              <a:def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01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799681A6-24CC-4FB1-85A0-8F5EEE470D87}"/>
              </a:ext>
            </a:extLst>
          </p:cNvPr>
          <p:cNvSpPr>
            <a:spLocks noGrp="1"/>
          </p:cNvSpPr>
          <p:nvPr/>
        </p:nvSpPr>
        <p:spPr>
          <a:xfrm>
            <a:off x="2381250" y="2609850"/>
            <a:ext cx="14811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Assign the target user to one of five clusters</a:t>
            </a:r>
          </a:p>
        </p:txBody>
      </p:sp>
      <p:sp>
        <p:nvSpPr>
          <p:cNvPr id="6" name="Đường nối Thẳng 5">
            <a:extLst>
              <a:ext uri="{FF2B5EF4-FFF2-40B4-BE49-F238E27FC236}">
                <a16:creationId xmlns:a16="http://schemas.microsoft.com/office/drawing/2014/main" id="{87DD9DD8-BDAE-418B-A094-FA72015544D0}"/>
              </a:ext>
            </a:extLst>
          </p:cNvPr>
          <p:cNvSpPr>
            <a:spLocks noGrp="1"/>
          </p:cNvSpPr>
          <p:nvPr/>
        </p:nvSpPr>
        <p:spPr>
          <a:xfrm>
            <a:off x="1000125" y="341947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59E4F945-06ED-48E2-A1C0-A3359440DAB8}"/>
              </a:ext>
            </a:extLst>
          </p:cNvPr>
          <p:cNvSpPr>
            <a:spLocks noGrp="1"/>
          </p:cNvSpPr>
          <p:nvPr/>
        </p:nvSpPr>
        <p:spPr>
          <a:xfrm>
            <a:off x="1000125" y="3590925"/>
            <a:ext cx="1143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354" lnSpcReduction="10000"/>
          </a:bodyPr>
          <a:lstStyle/>
          <a:p>
            <a:pPr algn="l">
              <a:def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02</a:t>
            </a:r>
          </a:p>
        </p:txBody>
      </p:sp>
      <p:sp>
        <p:nvSpPr>
          <p:cNvPr id="8" name="Hình chữ nhật 7">
            <a:extLst>
              <a:ext uri="{FF2B5EF4-FFF2-40B4-BE49-F238E27FC236}">
                <a16:creationId xmlns:a16="http://schemas.microsoft.com/office/drawing/2014/main" id="{CF054786-8D64-4628-8F8F-0427FBFF46EE}"/>
              </a:ext>
            </a:extLst>
          </p:cNvPr>
          <p:cNvSpPr>
            <a:spLocks noGrp="1"/>
          </p:cNvSpPr>
          <p:nvPr/>
        </p:nvSpPr>
        <p:spPr>
          <a:xfrm>
            <a:off x="2381250" y="3676650"/>
            <a:ext cx="14811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Collect movies rated by other users in the same cluster</a:t>
            </a:r>
          </a:p>
        </p:txBody>
      </p:sp>
      <p:sp>
        <p:nvSpPr>
          <p:cNvPr id="9" name="Đường nối Thẳng 8">
            <a:extLst>
              <a:ext uri="{FF2B5EF4-FFF2-40B4-BE49-F238E27FC236}">
                <a16:creationId xmlns:a16="http://schemas.microsoft.com/office/drawing/2014/main" id="{B1234C7B-726D-449A-B365-0B121D81E8EF}"/>
              </a:ext>
            </a:extLst>
          </p:cNvPr>
          <p:cNvSpPr>
            <a:spLocks noGrp="1"/>
          </p:cNvSpPr>
          <p:nvPr/>
        </p:nvSpPr>
        <p:spPr>
          <a:xfrm>
            <a:off x="1000125" y="448627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0" name="Hình chữ nhật 9">
            <a:extLst>
              <a:ext uri="{FF2B5EF4-FFF2-40B4-BE49-F238E27FC236}">
                <a16:creationId xmlns:a16="http://schemas.microsoft.com/office/drawing/2014/main" id="{8F9DBD9E-92AF-4772-BB30-C843F10F7106}"/>
              </a:ext>
            </a:extLst>
          </p:cNvPr>
          <p:cNvSpPr>
            <a:spLocks noGrp="1"/>
          </p:cNvSpPr>
          <p:nvPr/>
        </p:nvSpPr>
        <p:spPr>
          <a:xfrm>
            <a:off x="1000125" y="4657725"/>
            <a:ext cx="1143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354" lnSpcReduction="10000"/>
          </a:bodyPr>
          <a:lstStyle/>
          <a:p>
            <a:pPr algn="l">
              <a:def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03</a:t>
            </a:r>
          </a:p>
        </p:txBody>
      </p:sp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C35000C2-FFB2-4693-B89B-CD5729FE0A63}"/>
              </a:ext>
            </a:extLst>
          </p:cNvPr>
          <p:cNvSpPr>
            <a:spLocks noGrp="1"/>
          </p:cNvSpPr>
          <p:nvPr/>
        </p:nvSpPr>
        <p:spPr>
          <a:xfrm>
            <a:off x="2381250" y="4743450"/>
            <a:ext cx="14811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Remove movies already watched by the target user</a:t>
            </a:r>
          </a:p>
        </p:txBody>
      </p:sp>
      <p:sp>
        <p:nvSpPr>
          <p:cNvPr id="12" name="Đường nối Thẳng 11">
            <a:extLst>
              <a:ext uri="{FF2B5EF4-FFF2-40B4-BE49-F238E27FC236}">
                <a16:creationId xmlns:a16="http://schemas.microsoft.com/office/drawing/2014/main" id="{39EFA476-9154-4565-9286-8E71F819C3E1}"/>
              </a:ext>
            </a:extLst>
          </p:cNvPr>
          <p:cNvSpPr>
            <a:spLocks noGrp="1"/>
          </p:cNvSpPr>
          <p:nvPr/>
        </p:nvSpPr>
        <p:spPr>
          <a:xfrm>
            <a:off x="1000125" y="555307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AB38D9EA-E610-49DB-9BDB-43C5ABB58666}"/>
              </a:ext>
            </a:extLst>
          </p:cNvPr>
          <p:cNvSpPr>
            <a:spLocks noGrp="1"/>
          </p:cNvSpPr>
          <p:nvPr/>
        </p:nvSpPr>
        <p:spPr>
          <a:xfrm>
            <a:off x="1000125" y="5724525"/>
            <a:ext cx="1143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354" lnSpcReduction="10000"/>
          </a:bodyPr>
          <a:lstStyle/>
          <a:p>
            <a:pPr algn="l">
              <a:def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04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221B731B-3B49-48FB-B98C-850E94FD0C9C}"/>
              </a:ext>
            </a:extLst>
          </p:cNvPr>
          <p:cNvSpPr>
            <a:spLocks noGrp="1"/>
          </p:cNvSpPr>
          <p:nvPr/>
        </p:nvSpPr>
        <p:spPr>
          <a:xfrm>
            <a:off x="2381250" y="5810250"/>
            <a:ext cx="14811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Keep candidates with at least three cluster ratings</a:t>
            </a:r>
          </a:p>
        </p:txBody>
      </p:sp>
      <p:sp>
        <p:nvSpPr>
          <p:cNvPr id="15" name="Đường nối Thẳng 14">
            <a:extLst>
              <a:ext uri="{FF2B5EF4-FFF2-40B4-BE49-F238E27FC236}">
                <a16:creationId xmlns:a16="http://schemas.microsoft.com/office/drawing/2014/main" id="{8DE6AE1D-34E2-4378-BE72-17E2F980E320}"/>
              </a:ext>
            </a:extLst>
          </p:cNvPr>
          <p:cNvSpPr>
            <a:spLocks noGrp="1"/>
          </p:cNvSpPr>
          <p:nvPr/>
        </p:nvSpPr>
        <p:spPr>
          <a:xfrm>
            <a:off x="1000125" y="661987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6" name="Hình chữ nhật 15">
            <a:extLst>
              <a:ext uri="{FF2B5EF4-FFF2-40B4-BE49-F238E27FC236}">
                <a16:creationId xmlns:a16="http://schemas.microsoft.com/office/drawing/2014/main" id="{058580CB-534F-40EE-A61B-88A046FCF72C}"/>
              </a:ext>
            </a:extLst>
          </p:cNvPr>
          <p:cNvSpPr>
            <a:spLocks noGrp="1"/>
          </p:cNvSpPr>
          <p:nvPr/>
        </p:nvSpPr>
        <p:spPr>
          <a:xfrm>
            <a:off x="1000125" y="6791325"/>
            <a:ext cx="1143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354" lnSpcReduction="10000"/>
          </a:bodyPr>
          <a:lstStyle/>
          <a:p>
            <a:pPr algn="l">
              <a:def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05</a:t>
            </a:r>
          </a:p>
        </p:txBody>
      </p:sp>
      <p:sp>
        <p:nvSpPr>
          <p:cNvPr id="17" name="Hình chữ nhật 16">
            <a:extLst>
              <a:ext uri="{FF2B5EF4-FFF2-40B4-BE49-F238E27FC236}">
                <a16:creationId xmlns:a16="http://schemas.microsoft.com/office/drawing/2014/main" id="{6BB073A1-E57C-42C5-8F2D-72703DFC237F}"/>
              </a:ext>
            </a:extLst>
          </p:cNvPr>
          <p:cNvSpPr>
            <a:spLocks noGrp="1"/>
          </p:cNvSpPr>
          <p:nvPr/>
        </p:nvSpPr>
        <p:spPr>
          <a:xfrm>
            <a:off x="2381250" y="6877050"/>
            <a:ext cx="14811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Rank by mean rating × ln(1 + rating count)</a:t>
            </a:r>
          </a:p>
        </p:txBody>
      </p:sp>
      <p:sp>
        <p:nvSpPr>
          <p:cNvPr id="18" name="Đường nối Thẳng 17">
            <a:extLst>
              <a:ext uri="{FF2B5EF4-FFF2-40B4-BE49-F238E27FC236}">
                <a16:creationId xmlns:a16="http://schemas.microsoft.com/office/drawing/2014/main" id="{84811F22-3D95-4778-81C8-5631A2DBBCAB}"/>
              </a:ext>
            </a:extLst>
          </p:cNvPr>
          <p:cNvSpPr>
            <a:spLocks noGrp="1"/>
          </p:cNvSpPr>
          <p:nvPr/>
        </p:nvSpPr>
        <p:spPr>
          <a:xfrm>
            <a:off x="1000125" y="7686675"/>
            <a:ext cx="16192500" cy="0"/>
          </a:xfrm>
          <a:prstGeom prst="line">
            <a:avLst/>
          </a:prstGeom>
          <a:noFill/>
          <a:ln w="9525">
            <a:solidFill>
              <a:srgbClr val="B9B9B9"/>
            </a:solidFill>
            <a:prstDash val="solid"/>
          </a:ln>
        </p:spPr>
      </p:sp>
      <p:sp>
        <p:nvSpPr>
          <p:cNvPr id="19" name="Hình chữ nhật 18">
            <a:extLst>
              <a:ext uri="{FF2B5EF4-FFF2-40B4-BE49-F238E27FC236}">
                <a16:creationId xmlns:a16="http://schemas.microsoft.com/office/drawing/2014/main" id="{A7A82222-BD37-4BF3-9FCF-41676106A7F6}"/>
              </a:ext>
            </a:extLst>
          </p:cNvPr>
          <p:cNvSpPr>
            <a:spLocks noGrp="1"/>
          </p:cNvSpPr>
          <p:nvPr/>
        </p:nvSpPr>
        <p:spPr>
          <a:xfrm>
            <a:off x="1000125" y="7858125"/>
            <a:ext cx="11430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1354" lnSpcReduction="10000"/>
          </a:bodyPr>
          <a:lstStyle/>
          <a:p>
            <a:pPr algn="l">
              <a:def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48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06</a:t>
            </a:r>
          </a:p>
        </p:txBody>
      </p:sp>
      <p:sp>
        <p:nvSpPr>
          <p:cNvPr id="20" name="Hình chữ nhật 19">
            <a:extLst>
              <a:ext uri="{FF2B5EF4-FFF2-40B4-BE49-F238E27FC236}">
                <a16:creationId xmlns:a16="http://schemas.microsoft.com/office/drawing/2014/main" id="{16ED38CC-98F3-4BFA-BDCA-B031F93A00D7}"/>
              </a:ext>
            </a:extLst>
          </p:cNvPr>
          <p:cNvSpPr>
            <a:spLocks noGrp="1"/>
          </p:cNvSpPr>
          <p:nvPr/>
        </p:nvSpPr>
        <p:spPr>
          <a:xfrm>
            <a:off x="2381250" y="7943850"/>
            <a:ext cx="14811375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40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Return the highest-scoring unseen movies</a:t>
            </a:r>
          </a:p>
        </p:txBody>
      </p: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4AD3A661-9EBC-4E38-92FE-93CF662C6F0F}"/>
              </a:ext>
            </a:extLst>
          </p:cNvPr>
          <p:cNvSpPr>
            <a:spLocks noGrp="1"/>
          </p:cNvSpPr>
          <p:nvPr/>
        </p:nvSpPr>
        <p:spPr>
          <a:xfrm>
            <a:off x="857250" y="9115425"/>
            <a:ext cx="16478250" cy="723900"/>
          </a:xfrm>
          <a:prstGeom prst="rect">
            <a:avLst/>
          </a:prstGeom>
          <a:solidFill>
            <a:srgbClr val="2B2B2B"/>
          </a:solidFill>
          <a:ln w="0">
            <a:noFill/>
            <a:prstDash val="solid"/>
          </a:ln>
        </p:spPr>
      </p:sp>
      <p:sp>
        <p:nvSpPr>
          <p:cNvPr id="22" name="Hình chữ nhật 21">
            <a:extLst>
              <a:ext uri="{FF2B5EF4-FFF2-40B4-BE49-F238E27FC236}">
                <a16:creationId xmlns:a16="http://schemas.microsoft.com/office/drawing/2014/main" id="{4DDD0816-19DC-4535-9CEA-21C3927D884F}"/>
              </a:ext>
            </a:extLst>
          </p:cNvPr>
          <p:cNvSpPr>
            <a:spLocks noGrp="1"/>
          </p:cNvSpPr>
          <p:nvPr/>
        </p:nvSpPr>
        <p:spPr>
          <a:xfrm>
            <a:off x="1114425" y="9277350"/>
            <a:ext cx="159543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FFFFFF"/>
                </a:solidFill>
                <a:latin typeface="Fira Code"/>
                <a:ea typeface="Fira Code"/>
                <a:cs typeface="Fira Code"/>
              </a:defRPr>
            </a:pPr>
            <a:r>
              <a:rPr sz="1875" b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score(movie) = average rating × ln(1 + number of cluster ratings)</a:t>
            </a:r>
          </a:p>
        </p:txBody>
      </p:sp>
    </p:spTree>
    <p:extLst>
      <p:ext uri="{BB962C8B-B14F-4D97-AF65-F5344CB8AC3E}">
        <p14:creationId xmlns:p14="http://schemas.microsoft.com/office/powerpoint/2010/main" val="1575490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line">
            <a:extLst>
              <a:ext uri="{FF2B5EF4-FFF2-40B4-BE49-F238E27FC236}">
                <a16:creationId xmlns:a16="http://schemas.microsoft.com/office/drawing/2014/main" id="{B6419C58-B2BA-4D81-9336-C2EE82B6EF29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5471" lnSpcReduction="10000"/>
          </a:bodyPr>
          <a:lstStyle/>
          <a:p>
            <a:pPr algn="l"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900" b="0" dirty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RECOMMENDATION EXAMPLE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D1105996-C5EC-43E3-BAC0-69B255B796D0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8096250" cy="0"/>
          </a:xfrm>
          <a:prstGeom prst="line">
            <a:avLst/>
          </a:prstGeom>
          <a:noFill/>
          <a:ln w="11430">
            <a:solidFill>
              <a:srgbClr val="141414"/>
            </a:solidFill>
            <a:prstDash val="solid"/>
          </a:ln>
        </p:spPr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44CD966-1FAD-4544-9342-324A57B5793B}"/>
              </a:ext>
            </a:extLst>
          </p:cNvPr>
          <p:cNvSpPr>
            <a:spLocks noGrp="1"/>
          </p:cNvSpPr>
          <p:nvPr/>
        </p:nvSpPr>
        <p:spPr>
          <a:xfrm>
            <a:off x="714375" y="1866900"/>
            <a:ext cx="16668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875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D3836A84-8499-4F4B-9836-76A9B1682A3A}"/>
              </a:ext>
            </a:extLst>
          </p:cNvPr>
          <p:cNvSpPr>
            <a:spLocks noGrp="1"/>
          </p:cNvSpPr>
          <p:nvPr/>
        </p:nvSpPr>
        <p:spPr>
          <a:xfrm>
            <a:off x="857250" y="2495551"/>
            <a:ext cx="16097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368" lnSpcReduction="10000"/>
          </a:bodyPr>
          <a:lstStyle/>
          <a:p>
            <a:pPr algn="l">
              <a:defRPr sz="2850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850" b="1" dirty="0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TOP 5 UNWATCHED MOVIES</a:t>
            </a:r>
          </a:p>
        </p:txBody>
      </p:sp>
      <p:graphicFrame>
        <p:nvGraphicFramePr>
          <p:cNvPr id="11" name="Bảng 10"/>
          <p:cNvGraphicFramePr/>
          <p:nvPr>
            <p:extLst>
              <p:ext uri="{D42A27DB-BD31-4B8C-83A1-F6EECF244321}">
                <p14:modId xmlns:p14="http://schemas.microsoft.com/office/powerpoint/2010/main" val="421819428"/>
              </p:ext>
            </p:extLst>
          </p:nvPr>
        </p:nvGraphicFramePr>
        <p:xfrm>
          <a:off x="857250" y="3248025"/>
          <a:ext cx="16478250" cy="5124450"/>
        </p:xfrm>
        <a:graphic>
          <a:graphicData uri="http://schemas.openxmlformats.org/drawingml/2006/table">
            <a:tbl>
              <a:tblPr/>
              <a:tblGrid>
                <a:gridCol w="847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800" b="1" dirty="0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MOVIE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AVG RATING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COUNT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SCORE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The Usual Suspects (1995)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16.321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sz="1875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Schindler’s List (1993)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4.070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16.003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American Beauty (1999)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15.323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One Flew Over the Cuckoo’s Nest (1975)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4.288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15.121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Seven (1995)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14.895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1DD0A737-A815-495E-83D0-F85B65085C05}"/>
              </a:ext>
            </a:extLst>
          </p:cNvPr>
          <p:cNvSpPr>
            <a:spLocks noGrp="1"/>
          </p:cNvSpPr>
          <p:nvPr/>
        </p:nvSpPr>
        <p:spPr>
          <a:xfrm>
            <a:off x="942975" y="8734425"/>
            <a:ext cx="16335375" cy="6381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800" b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The list is based on 106 other users in User 50’s K = 5 cluster.</a:t>
            </a:r>
          </a:p>
        </p:txBody>
      </p:sp>
    </p:spTree>
    <p:extLst>
      <p:ext uri="{BB962C8B-B14F-4D97-AF65-F5344CB8AC3E}">
        <p14:creationId xmlns:p14="http://schemas.microsoft.com/office/powerpoint/2010/main" val="715191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Hình chữ nhật 12">
            <a:extLst>
              <a:ext uri="{FF2B5EF4-FFF2-40B4-BE49-F238E27FC236}">
                <a16:creationId xmlns:a16="http://schemas.microsoft.com/office/drawing/2014/main" id="{B1873A84-005F-4328-80DC-04AB6696F423}"/>
              </a:ext>
            </a:extLst>
          </p:cNvPr>
          <p:cNvSpPr>
            <a:spLocks noGrp="1"/>
          </p:cNvSpPr>
          <p:nvPr/>
        </p:nvSpPr>
        <p:spPr>
          <a:xfrm>
            <a:off x="666750" y="552450"/>
            <a:ext cx="16764000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811" lnSpcReduction="10000"/>
          </a:bodyPr>
          <a:lstStyle/>
          <a:p>
            <a:pPr>
              <a:defRPr sz="6900" b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lang="en-US" sz="6600" dirty="0">
                <a:solidFill>
                  <a:srgbClr val="242424"/>
                </a:solidFill>
                <a:latin typeface="RQND Pro Condensed"/>
                <a:ea typeface="RQND Pro Condensed"/>
                <a:cs typeface="RQND Pro Condensed"/>
              </a:rPr>
              <a:t>RECOMMENDATION EXAMPLE</a:t>
            </a:r>
          </a:p>
        </p:txBody>
      </p:sp>
      <p:sp>
        <p:nvSpPr>
          <p:cNvPr id="2" name="Đường nối Thẳng 1">
            <a:extLst>
              <a:ext uri="{FF2B5EF4-FFF2-40B4-BE49-F238E27FC236}">
                <a16:creationId xmlns:a16="http://schemas.microsoft.com/office/drawing/2014/main" id="{593FDBB3-5366-448E-B9A4-14EA245EC14C}"/>
              </a:ext>
            </a:extLst>
          </p:cNvPr>
          <p:cNvSpPr>
            <a:spLocks noGrp="1"/>
          </p:cNvSpPr>
          <p:nvPr/>
        </p:nvSpPr>
        <p:spPr>
          <a:xfrm flipV="1">
            <a:off x="666750" y="1647825"/>
            <a:ext cx="7976736" cy="19050"/>
          </a:xfrm>
          <a:prstGeom prst="line">
            <a:avLst/>
          </a:prstGeom>
          <a:noFill/>
          <a:ln w="11430">
            <a:solidFill>
              <a:srgbClr val="2B2B2B"/>
            </a:solidFill>
            <a:prstDash val="solid"/>
          </a:ln>
        </p:spPr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568015EA-732E-47B7-8205-7B6BA52944EF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16764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endParaRPr sz="1950" b="0" dirty="0">
              <a:solidFill>
                <a:srgbClr val="555555"/>
              </a:solidFill>
              <a:latin typeface="Fira Code"/>
              <a:ea typeface="Fira Code"/>
              <a:cs typeface="Fira Code"/>
            </a:endParaRPr>
          </a:p>
        </p:txBody>
      </p:sp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BA762AE5-6958-4774-A8D9-CCB230D549D5}"/>
              </a:ext>
            </a:extLst>
          </p:cNvPr>
          <p:cNvSpPr>
            <a:spLocks noGrp="1"/>
          </p:cNvSpPr>
          <p:nvPr/>
        </p:nvSpPr>
        <p:spPr>
          <a:xfrm>
            <a:off x="1000125" y="2667000"/>
            <a:ext cx="229171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6000" b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defRPr>
            </a:pPr>
            <a:r>
              <a:rPr sz="6000" b="0" dirty="0">
                <a:solidFill>
                  <a:srgbClr val="5E46AA"/>
                </a:solidFill>
                <a:latin typeface="RQND Pro Condensed"/>
                <a:ea typeface="RQND Pro Condensed"/>
                <a:cs typeface="RQND Pro Condensed"/>
              </a:rPr>
              <a:t>USER 50</a:t>
            </a: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E825C1C5-3BC9-43F7-A4F7-24EDE2C497CF}"/>
              </a:ext>
            </a:extLst>
          </p:cNvPr>
          <p:cNvSpPr>
            <a:spLocks noGrp="1"/>
          </p:cNvSpPr>
          <p:nvPr/>
        </p:nvSpPr>
        <p:spPr>
          <a:xfrm>
            <a:off x="6238875" y="2667000"/>
            <a:ext cx="10763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92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Cluster 0 of 5</a:t>
            </a:r>
          </a:p>
        </p:txBody>
      </p:sp>
      <p:sp>
        <p:nvSpPr>
          <p:cNvPr id="6" name="Hình chữ nhật 5">
            <a:extLst>
              <a:ext uri="{FF2B5EF4-FFF2-40B4-BE49-F238E27FC236}">
                <a16:creationId xmlns:a16="http://schemas.microsoft.com/office/drawing/2014/main" id="{5C6A44BD-186A-4698-820E-D04791451620}"/>
              </a:ext>
            </a:extLst>
          </p:cNvPr>
          <p:cNvSpPr>
            <a:spLocks noGrp="1"/>
          </p:cNvSpPr>
          <p:nvPr/>
        </p:nvSpPr>
        <p:spPr>
          <a:xfrm>
            <a:off x="6257925" y="3248025"/>
            <a:ext cx="10668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405" lnSpcReduction="10000"/>
          </a:bodyPr>
          <a:lstStyle/>
          <a:p>
            <a:pPr algn="l">
              <a:defRPr sz="210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2100" b="0" dirty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User 50 has rated 310 movies.</a:t>
            </a:r>
          </a:p>
        </p:txBody>
      </p:sp>
      <p:sp>
        <p:nvSpPr>
          <p:cNvPr id="7" name="Hình chữ nhật 6">
            <a:extLst>
              <a:ext uri="{FF2B5EF4-FFF2-40B4-BE49-F238E27FC236}">
                <a16:creationId xmlns:a16="http://schemas.microsoft.com/office/drawing/2014/main" id="{F3F97DB7-D64A-4430-A65B-479AB94BF373}"/>
              </a:ext>
            </a:extLst>
          </p:cNvPr>
          <p:cNvSpPr>
            <a:spLocks noGrp="1"/>
          </p:cNvSpPr>
          <p:nvPr/>
        </p:nvSpPr>
        <p:spPr>
          <a:xfrm>
            <a:off x="6257925" y="36861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95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950" b="0" dirty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Candidate movies come from 106 other users in Cluster 0.</a:t>
            </a:r>
          </a:p>
        </p:txBody>
      </p:sp>
      <p:sp>
        <p:nvSpPr>
          <p:cNvPr id="8" name="Đường nối Thẳng 7">
            <a:extLst>
              <a:ext uri="{FF2B5EF4-FFF2-40B4-BE49-F238E27FC236}">
                <a16:creationId xmlns:a16="http://schemas.microsoft.com/office/drawing/2014/main" id="{3B44E4EE-EAAF-4779-A2F5-313A757F9194}"/>
              </a:ext>
            </a:extLst>
          </p:cNvPr>
          <p:cNvSpPr>
            <a:spLocks noGrp="1"/>
          </p:cNvSpPr>
          <p:nvPr/>
        </p:nvSpPr>
        <p:spPr>
          <a:xfrm>
            <a:off x="1000125" y="4257675"/>
            <a:ext cx="16287750" cy="0"/>
          </a:xfrm>
          <a:prstGeom prst="line">
            <a:avLst/>
          </a:prstGeom>
          <a:noFill/>
          <a:ln w="11430">
            <a:solidFill>
              <a:srgbClr val="B9B9B9"/>
            </a:solidFill>
            <a:prstDash val="solid"/>
          </a:ln>
        </p:spPr>
      </p:sp>
      <p:sp>
        <p:nvSpPr>
          <p:cNvPr id="9" name="Hình chữ nhật 8">
            <a:extLst>
              <a:ext uri="{FF2B5EF4-FFF2-40B4-BE49-F238E27FC236}">
                <a16:creationId xmlns:a16="http://schemas.microsoft.com/office/drawing/2014/main" id="{2FB8F97D-EC52-428F-81D3-5AEAB5B5080C}"/>
              </a:ext>
            </a:extLst>
          </p:cNvPr>
          <p:cNvSpPr>
            <a:spLocks noGrp="1"/>
          </p:cNvSpPr>
          <p:nvPr/>
        </p:nvSpPr>
        <p:spPr>
          <a:xfrm>
            <a:off x="1000125" y="4429125"/>
            <a:ext cx="16192500" cy="6000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7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defRPr>
            </a:pPr>
            <a:r>
              <a:rPr sz="2775" b="1">
                <a:solidFill>
                  <a:srgbClr val="2B2B2B"/>
                </a:solidFill>
                <a:latin typeface="Fira Code Bold"/>
                <a:ea typeface="Fira Code Bold"/>
                <a:cs typeface="Fira Code Bold"/>
              </a:rPr>
              <a:t>TOP 5 MOVIES RECOMMENDED TO USER 50</a:t>
            </a:r>
          </a:p>
        </p:txBody>
      </p:sp>
      <p:graphicFrame>
        <p:nvGraphicFramePr>
          <p:cNvPr id="22" name="Bảng 21"/>
          <p:cNvGraphicFramePr/>
          <p:nvPr/>
        </p:nvGraphicFramePr>
        <p:xfrm>
          <a:off x="857250" y="5095875"/>
          <a:ext cx="16478250" cy="4124325"/>
        </p:xfrm>
        <a:graphic>
          <a:graphicData uri="http://schemas.openxmlformats.org/drawingml/2006/table">
            <a:tbl>
              <a:tblPr/>
              <a:tblGrid>
                <a:gridCol w="847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725" b="1" dirty="0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MOVIE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AVG. RATING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COUNT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Fira Code Bold"/>
                          <a:ea typeface="Fira Code Bold"/>
                          <a:cs typeface="Fira Code Bold"/>
                        </a:rPr>
                        <a:t>SCORE</a:t>
                      </a:r>
                    </a:p>
                  </a:txBody>
                  <a:tcPr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l"/>
                      <a:r>
                        <a:rPr sz="1875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The Usual Suspects (1995)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4.239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16.321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l"/>
                      <a:r>
                        <a:rPr sz="1875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Schindler’s List (1993)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4.070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16.003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l"/>
                      <a:r>
                        <a:rPr sz="1875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American Beauty (1999)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15.323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l"/>
                      <a:r>
                        <a:rPr sz="1875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One Flew Over the Cuckoo’s Nest (1975)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4.288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33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15.121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algn="l"/>
                      <a:r>
                        <a:rPr sz="1875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Seven (1995)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4.066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 dirty="0">
                          <a:solidFill>
                            <a:srgbClr val="2B2B2B"/>
                          </a:solidFill>
                          <a:latin typeface="Fira Code"/>
                          <a:ea typeface="Fira Code"/>
                          <a:cs typeface="Fira Code"/>
                        </a:rPr>
                        <a:t>14.895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Hình chữ nhật 10">
            <a:extLst>
              <a:ext uri="{FF2B5EF4-FFF2-40B4-BE49-F238E27FC236}">
                <a16:creationId xmlns:a16="http://schemas.microsoft.com/office/drawing/2014/main" id="{BA787783-D145-42FB-A2B0-1021B7102380}"/>
              </a:ext>
            </a:extLst>
          </p:cNvPr>
          <p:cNvSpPr>
            <a:spLocks noGrp="1"/>
          </p:cNvSpPr>
          <p:nvPr/>
        </p:nvSpPr>
        <p:spPr>
          <a:xfrm>
            <a:off x="933450" y="9315450"/>
            <a:ext cx="16383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242424"/>
                </a:solidFill>
                <a:latin typeface="Fira Code"/>
                <a:ea typeface="Fira Code"/>
                <a:cs typeface="Fira Code"/>
              </a:defRPr>
            </a:pPr>
            <a:r>
              <a:rPr sz="1650" b="0" dirty="0">
                <a:solidFill>
                  <a:srgbClr val="242424"/>
                </a:solidFill>
                <a:latin typeface="Fira Code"/>
                <a:ea typeface="Fira Code"/>
                <a:cs typeface="Fira Code"/>
              </a:rPr>
              <a:t>All five movies are unseen by User 50. Ratings and counts come from other users in Cluster 0.</a:t>
            </a:r>
          </a:p>
        </p:txBody>
      </p:sp>
      <p:sp>
        <p:nvSpPr>
          <p:cNvPr id="12" name="Hình chữ nhật 11">
            <a:extLst>
              <a:ext uri="{FF2B5EF4-FFF2-40B4-BE49-F238E27FC236}">
                <a16:creationId xmlns:a16="http://schemas.microsoft.com/office/drawing/2014/main" id="{3D98BAAA-9A8E-4713-80D1-96BE33F0D253}"/>
              </a:ext>
            </a:extLst>
          </p:cNvPr>
          <p:cNvSpPr>
            <a:spLocks noGrp="1"/>
          </p:cNvSpPr>
          <p:nvPr/>
        </p:nvSpPr>
        <p:spPr>
          <a:xfrm>
            <a:off x="933450" y="9677400"/>
            <a:ext cx="16383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650" b="0">
                <a:solidFill>
                  <a:srgbClr val="555555"/>
                </a:solidFill>
                <a:latin typeface="Fira Code"/>
                <a:ea typeface="Fira Code"/>
                <a:cs typeface="Fira Code"/>
              </a:defRPr>
            </a:pPr>
            <a:r>
              <a:rPr sz="1650" b="0" dirty="0">
                <a:solidFill>
                  <a:srgbClr val="555555"/>
                </a:solidFill>
                <a:latin typeface="Fira Code"/>
                <a:ea typeface="Fira Code"/>
                <a:cs typeface="Fira Code"/>
              </a:rPr>
              <a:t>Score = average rating × ln(1 + rating count).</a:t>
            </a:r>
          </a:p>
        </p:txBody>
      </p:sp>
    </p:spTree>
    <p:extLst>
      <p:ext uri="{BB962C8B-B14F-4D97-AF65-F5344CB8AC3E}">
        <p14:creationId xmlns:p14="http://schemas.microsoft.com/office/powerpoint/2010/main" val="2159505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1DB801C-D8BE-4D93-BE94-F0C89060718B}"/>
              </a:ext>
            </a:extLst>
          </p:cNvPr>
          <p:cNvSpPr>
            <a:spLocks noGrp="1"/>
          </p:cNvSpPr>
          <p:nvPr/>
        </p:nvSpPr>
        <p:spPr>
          <a:xfrm>
            <a:off x="490550" y="504825"/>
            <a:ext cx="4505420" cy="8325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ts val="5280"/>
              </a:lnSpc>
              <a:buNone/>
            </a:pPr>
            <a:r>
              <a:rPr sz="8800" spc="-176">
                <a:solidFill>
                  <a:srgbClr val="000000"/>
                </a:solidFill>
                <a:latin typeface="RQND Pro Condensed"/>
                <a:ea typeface="RQND Pro Condensed"/>
                <a:cs typeface="RQND Pro Condensed"/>
              </a:rPr>
              <a:t>REFERENCES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7A37502-FD58-490E-B938-B88DF164C9C2}"/>
              </a:ext>
            </a:extLst>
          </p:cNvPr>
          <p:cNvSpPr>
            <a:spLocks noGrp="1"/>
          </p:cNvSpPr>
          <p:nvPr/>
        </p:nvSpPr>
        <p:spPr>
          <a:xfrm>
            <a:off x="0" y="1603149"/>
            <a:ext cx="18288000" cy="363626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871160" lvl="1" indent="-435580" algn="l">
              <a:lnSpc>
                <a:spcPts val="4035"/>
              </a:lnSpc>
              <a:buFont typeface="Arial"/>
              <a:buChar char="•"/>
            </a:pPr>
            <a:r>
              <a:rPr sz="4035" spc="-121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HARPER, F. M., &amp; KONSTAN, J. A. (2015). THE MOVIELENS DATASETS: HISTORY AND CONTEXT. ACM TRANSACTIONS ON INTERACTIVE INTELLIGENT SYSTEMS, 5 (4), ARTICLE 19. HTTPS://DOI.ORG/10.1145/2827872</a:t>
            </a:r>
          </a:p>
          <a:p>
            <a:pPr algn="l">
              <a:lnSpc>
                <a:spcPts val="4035"/>
              </a:lnSpc>
              <a:buNone/>
            </a:pPr>
            <a:endParaRPr sz="4035" spc="-121">
              <a:solidFill>
                <a:srgbClr val="000000"/>
              </a:solidFill>
              <a:latin typeface="Calibri (MS)"/>
              <a:ea typeface="Calibri (MS)"/>
              <a:cs typeface="Calibri (MS)"/>
            </a:endParaRPr>
          </a:p>
          <a:p>
            <a:pPr marL="871160" lvl="1" indent="-435580" algn="l">
              <a:lnSpc>
                <a:spcPts val="4035"/>
              </a:lnSpc>
              <a:buFont typeface="Arial"/>
              <a:buChar char="•"/>
            </a:pPr>
            <a:r>
              <a:rPr sz="4035" spc="-121">
                <a:solidFill>
                  <a:srgbClr val="000000"/>
                </a:solidFill>
                <a:latin typeface="Calibri (MS)"/>
                <a:ea typeface="Calibri (MS)"/>
                <a:cs typeface="Calibri (MS)"/>
              </a:rPr>
              <a:t>LEE, J. H., KIM, D. H., LEE, Y. H., &amp; HWANG, I. (2012). A LITERATURE REVIEW AND CLASSIFICATION OF RECOMMENDER SYSTEMS RESEARCH. EXPERT SYSTEMS WITH APPLICATIONS, 39 (11), 10059–10072. HTTPS: //DOI.ORG/10.1016/J.ESWA.2012.02.038</a:t>
            </a:r>
          </a:p>
        </p:txBody>
      </p:sp>
    </p:spTree>
    <p:extLst>
      <p:ext uri="{BB962C8B-B14F-4D97-AF65-F5344CB8AC3E}">
        <p14:creationId xmlns:p14="http://schemas.microsoft.com/office/powerpoint/2010/main" val="1592567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88CA7F-2470-4BBF-99E6-D777DB2C539C}"/>
              </a:ext>
            </a:extLst>
          </p:cNvPr>
          <p:cNvSpPr>
            <a:spLocks noGrp="1"/>
          </p:cNvSpPr>
          <p:nvPr/>
        </p:nvSpPr>
        <p:spPr>
          <a:xfrm>
            <a:off x="0" y="164860"/>
            <a:ext cx="18288000" cy="10122140"/>
          </a:xfrm>
          <a:custGeom>
            <a:avLst/>
            <a:gdLst/>
            <a:ahLst/>
            <a:cxnLst/>
            <a:rect l="l" t="t" r="r" b="b"/>
            <a:pathLst>
              <a:path w="18288000" h="10122140">
                <a:moveTo>
                  <a:pt x="0" y="0"/>
                </a:moveTo>
                <a:lnTo>
                  <a:pt x="18288000" y="0"/>
                </a:lnTo>
                <a:lnTo>
                  <a:pt x="18288000" y="10122140"/>
                </a:lnTo>
                <a:lnTo>
                  <a:pt x="0" y="101221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568" b="-4030"/>
            </a:stretch>
          </a:blipFill>
        </p:spPr>
      </p:sp>
    </p:spTree>
    <p:extLst>
      <p:ext uri="{BB962C8B-B14F-4D97-AF65-F5344CB8AC3E}">
        <p14:creationId xmlns:p14="http://schemas.microsoft.com/office/powerpoint/2010/main" val="511972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1943</Words>
  <Application>Microsoft Office PowerPoint</Application>
  <DocSecurity>0</DocSecurity>
  <PresentationFormat>Tùy chỉnh</PresentationFormat>
  <Paragraphs>251</Paragraphs>
  <Slides>21</Slides>
  <Notes>21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8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21</vt:i4>
      </vt:variant>
    </vt:vector>
  </HeadingPairs>
  <TitlesOfParts>
    <vt:vector size="30" baseType="lpstr">
      <vt:lpstr>Calibri (MS)</vt:lpstr>
      <vt:lpstr>RQND Pro Condensed</vt:lpstr>
      <vt:lpstr>Canva Sans Bold Italics</vt:lpstr>
      <vt:lpstr>Mina Bold</vt:lpstr>
      <vt:lpstr>Fira Code Bold</vt:lpstr>
      <vt:lpstr>Fira Code</vt:lpstr>
      <vt:lpstr>Calibri</vt:lpstr>
      <vt:lpstr>Arial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tan do</cp:lastModifiedBy>
  <cp:revision>3</cp:revision>
  <dcterms:created xsi:type="dcterms:W3CDTF">2026-09-29T14:29:19Z</dcterms:created>
  <dcterms:modified xsi:type="dcterms:W3CDTF">2026-09-30T03:32:42Z</dcterms:modified>
</cp:coreProperties>
</file>